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57" r:id="rId2"/>
  </p:sldIdLst>
  <p:sldSz cx="36576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41"/>
    <a:srgbClr val="0C2340"/>
    <a:srgbClr val="E86100"/>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6312"/>
  </p:normalViewPr>
  <p:slideViewPr>
    <p:cSldViewPr snapToGrid="0">
      <p:cViewPr varScale="1">
        <p:scale>
          <a:sx n="20" d="100"/>
          <a:sy n="20" d="100"/>
        </p:scale>
        <p:origin x="1925" y="19"/>
      </p:cViewPr>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E03069-C860-4B3A-8A31-C9E772D1E8A5}" type="datetimeFigureOut">
              <a:rPr lang="en-US" smtClean="0"/>
              <a:t>7/20/2026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C80C6-8243-45A9-9861-31ED23816510}" type="slidenum">
              <a:rPr lang="en-US" smtClean="0"/>
              <a:t>‹#›</a:t>
            </a:fld>
            <a:endParaRPr lang="en-US"/>
          </a:p>
        </p:txBody>
      </p:sp>
    </p:spTree>
    <p:extLst>
      <p:ext uri="{BB962C8B-B14F-4D97-AF65-F5344CB8AC3E}">
        <p14:creationId xmlns:p14="http://schemas.microsoft.com/office/powerpoint/2010/main" val="4210319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C80C6-8243-45A9-9861-31ED23816510}" type="slidenum">
              <a:rPr lang="en-US" smtClean="0"/>
              <a:t>1</a:t>
            </a:fld>
            <a:endParaRPr lang="en-US"/>
          </a:p>
        </p:txBody>
      </p:sp>
    </p:spTree>
    <p:extLst>
      <p:ext uri="{BB962C8B-B14F-4D97-AF65-F5344CB8AC3E}">
        <p14:creationId xmlns:p14="http://schemas.microsoft.com/office/powerpoint/2010/main" val="128438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489452"/>
            <a:ext cx="31089600" cy="9550400"/>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4408152"/>
            <a:ext cx="27432000" cy="6623048"/>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49355D-8839-CA47-B436-6451C26FBA95}"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397629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49355D-8839-CA47-B436-6451C26FBA95}"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201407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6838958"/>
            <a:ext cx="31546800" cy="1141094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8357858"/>
            <a:ext cx="31546800" cy="6000748"/>
          </a:xfrm>
        </p:spPr>
        <p:txBody>
          <a:bodyPr/>
          <a:lstStyle>
            <a:lvl1pPr marL="0" indent="0">
              <a:buNone/>
              <a:defRPr sz="9600">
                <a:solidFill>
                  <a:schemeClr val="tx1">
                    <a:tint val="82000"/>
                  </a:schemeClr>
                </a:solidFill>
              </a:defRPr>
            </a:lvl1pPr>
            <a:lvl2pPr marL="1828800" indent="0">
              <a:buNone/>
              <a:defRPr sz="8000">
                <a:solidFill>
                  <a:schemeClr val="tx1">
                    <a:tint val="82000"/>
                  </a:schemeClr>
                </a:solidFill>
              </a:defRPr>
            </a:lvl2pPr>
            <a:lvl3pPr marL="3657600" indent="0">
              <a:buNone/>
              <a:defRPr sz="7200">
                <a:solidFill>
                  <a:schemeClr val="tx1">
                    <a:tint val="82000"/>
                  </a:schemeClr>
                </a:solidFill>
              </a:defRPr>
            </a:lvl3pPr>
            <a:lvl4pPr marL="5486400" indent="0">
              <a:buNone/>
              <a:defRPr sz="6400">
                <a:solidFill>
                  <a:schemeClr val="tx1">
                    <a:tint val="82000"/>
                  </a:schemeClr>
                </a:solidFill>
              </a:defRPr>
            </a:lvl4pPr>
            <a:lvl5pPr marL="7315200" indent="0">
              <a:buNone/>
              <a:defRPr sz="6400">
                <a:solidFill>
                  <a:schemeClr val="tx1">
                    <a:tint val="82000"/>
                  </a:schemeClr>
                </a:solidFill>
              </a:defRPr>
            </a:lvl5pPr>
            <a:lvl6pPr marL="9144000" indent="0">
              <a:buNone/>
              <a:defRPr sz="6400">
                <a:solidFill>
                  <a:schemeClr val="tx1">
                    <a:tint val="82000"/>
                  </a:schemeClr>
                </a:solidFill>
              </a:defRPr>
            </a:lvl6pPr>
            <a:lvl7pPr marL="10972800" indent="0">
              <a:buNone/>
              <a:defRPr sz="6400">
                <a:solidFill>
                  <a:schemeClr val="tx1">
                    <a:tint val="82000"/>
                  </a:schemeClr>
                </a:solidFill>
              </a:defRPr>
            </a:lvl7pPr>
            <a:lvl8pPr marL="12801600" indent="0">
              <a:buNone/>
              <a:defRPr sz="6400">
                <a:solidFill>
                  <a:schemeClr val="tx1">
                    <a:tint val="82000"/>
                  </a:schemeClr>
                </a:solidFill>
              </a:defRPr>
            </a:lvl8pPr>
            <a:lvl9pPr marL="14630400" indent="0">
              <a:buNone/>
              <a:defRPr sz="6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49355D-8839-CA47-B436-6451C26FBA95}"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3356938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49355D-8839-CA47-B436-6451C26FBA95}"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1551497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460506"/>
            <a:ext cx="3154680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6724652"/>
            <a:ext cx="15473360"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020300"/>
            <a:ext cx="15473360"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6724652"/>
            <a:ext cx="15549564"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020300"/>
            <a:ext cx="15549564"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49355D-8839-CA47-B436-6451C26FBA95}"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1552313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49355D-8839-CA47-B436-6451C26FBA95}"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2546457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49355D-8839-CA47-B436-6451C26FBA95}"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3218811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3949706"/>
            <a:ext cx="18516600" cy="19494500"/>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949355D-8839-CA47-B436-6451C26FBA95}"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3345054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3949706"/>
            <a:ext cx="18516600" cy="19494500"/>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949355D-8839-CA47-B436-6451C26FBA95}"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336468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49355D-8839-CA47-B436-6451C26FBA95}"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146204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460500"/>
            <a:ext cx="7886700"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1460500"/>
            <a:ext cx="232029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49355D-8839-CA47-B436-6451C26FBA95}"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F3C13-155F-7340-8E49-03BA68356F20}" type="slidenum">
              <a:rPr lang="en-US" smtClean="0"/>
              <a:t>‹#›</a:t>
            </a:fld>
            <a:endParaRPr lang="en-US"/>
          </a:p>
        </p:txBody>
      </p:sp>
    </p:spTree>
    <p:extLst>
      <p:ext uri="{BB962C8B-B14F-4D97-AF65-F5344CB8AC3E}">
        <p14:creationId xmlns:p14="http://schemas.microsoft.com/office/powerpoint/2010/main" val="2766185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460506"/>
            <a:ext cx="3154680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302500"/>
            <a:ext cx="315468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5425406"/>
            <a:ext cx="8229600" cy="1460500"/>
          </a:xfrm>
          <a:prstGeom prst="rect">
            <a:avLst/>
          </a:prstGeom>
        </p:spPr>
        <p:txBody>
          <a:bodyPr vert="horz" lIns="91440" tIns="45720" rIns="91440" bIns="45720" rtlCol="0" anchor="ctr"/>
          <a:lstStyle>
            <a:lvl1pPr algn="l">
              <a:defRPr sz="4800">
                <a:solidFill>
                  <a:schemeClr val="tx1">
                    <a:tint val="82000"/>
                  </a:schemeClr>
                </a:solidFill>
              </a:defRPr>
            </a:lvl1pPr>
          </a:lstStyle>
          <a:p>
            <a:fld id="{9949355D-8839-CA47-B436-6451C26FBA95}" type="datetimeFigureOut">
              <a:rPr lang="en-US" smtClean="0"/>
              <a:t>7/20/2026</a:t>
            </a:fld>
            <a:endParaRPr lang="en-US"/>
          </a:p>
        </p:txBody>
      </p:sp>
      <p:sp>
        <p:nvSpPr>
          <p:cNvPr id="5" name="Footer Placeholder 4"/>
          <p:cNvSpPr>
            <a:spLocks noGrp="1"/>
          </p:cNvSpPr>
          <p:nvPr>
            <p:ph type="ftr" sz="quarter" idx="3"/>
          </p:nvPr>
        </p:nvSpPr>
        <p:spPr>
          <a:xfrm>
            <a:off x="12115800" y="25425406"/>
            <a:ext cx="12344400" cy="1460500"/>
          </a:xfrm>
          <a:prstGeom prst="rect">
            <a:avLst/>
          </a:prstGeom>
        </p:spPr>
        <p:txBody>
          <a:bodyPr vert="horz" lIns="91440" tIns="45720" rIns="91440" bIns="45720" rtlCol="0" anchor="ctr"/>
          <a:lstStyle>
            <a:lvl1pPr algn="ctr">
              <a:defRPr sz="4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831800" y="25425406"/>
            <a:ext cx="8229600" cy="1460500"/>
          </a:xfrm>
          <a:prstGeom prst="rect">
            <a:avLst/>
          </a:prstGeom>
        </p:spPr>
        <p:txBody>
          <a:bodyPr vert="horz" lIns="91440" tIns="45720" rIns="91440" bIns="45720" rtlCol="0" anchor="ctr"/>
          <a:lstStyle>
            <a:lvl1pPr algn="r">
              <a:defRPr sz="4800">
                <a:solidFill>
                  <a:schemeClr val="tx1">
                    <a:tint val="82000"/>
                  </a:schemeClr>
                </a:solidFill>
              </a:defRPr>
            </a:lvl1pPr>
          </a:lstStyle>
          <a:p>
            <a:fld id="{965F3C13-155F-7340-8E49-03BA68356F20}" type="slidenum">
              <a:rPr lang="en-US" smtClean="0"/>
              <a:t>‹#›</a:t>
            </a:fld>
            <a:endParaRPr lang="en-US"/>
          </a:p>
        </p:txBody>
      </p:sp>
    </p:spTree>
    <p:extLst>
      <p:ext uri="{BB962C8B-B14F-4D97-AF65-F5344CB8AC3E}">
        <p14:creationId xmlns:p14="http://schemas.microsoft.com/office/powerpoint/2010/main" val="10947784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svg"/><Relationship Id="rId26" Type="http://schemas.openxmlformats.org/officeDocument/2006/relationships/image" Target="../media/image24.svg"/><Relationship Id="rId3" Type="http://schemas.openxmlformats.org/officeDocument/2006/relationships/image" Target="../media/image1.svg"/><Relationship Id="rId21" Type="http://schemas.openxmlformats.org/officeDocument/2006/relationships/image" Target="../media/image19.svg"/><Relationship Id="rId7" Type="http://schemas.openxmlformats.org/officeDocument/2006/relationships/image" Target="../media/image5.svg"/><Relationship Id="rId12" Type="http://schemas.openxmlformats.org/officeDocument/2006/relationships/image" Target="../media/image10.svg"/><Relationship Id="rId17" Type="http://schemas.openxmlformats.org/officeDocument/2006/relationships/image" Target="../media/image15.svg"/><Relationship Id="rId25" Type="http://schemas.openxmlformats.org/officeDocument/2006/relationships/image" Target="../media/image23.svg"/><Relationship Id="rId33" Type="http://schemas.openxmlformats.org/officeDocument/2006/relationships/image" Target="../media/image30.sv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hyperlink" Target="https://www.dco.uscg.mil/Portals/9/CG-5R/manuals/COMDTINST%20M16130.2F.pdf"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svg"/><Relationship Id="rId24" Type="http://schemas.openxmlformats.org/officeDocument/2006/relationships/image" Target="../media/image22.svg"/><Relationship Id="rId32" Type="http://schemas.openxmlformats.org/officeDocument/2006/relationships/image" Target="../media/image29.png"/><Relationship Id="rId5" Type="http://schemas.openxmlformats.org/officeDocument/2006/relationships/image" Target="../media/image3.svg"/><Relationship Id="rId15" Type="http://schemas.openxmlformats.org/officeDocument/2006/relationships/image" Target="../media/image13.svg"/><Relationship Id="rId23" Type="http://schemas.openxmlformats.org/officeDocument/2006/relationships/image" Target="../media/image21.svg"/><Relationship Id="rId28" Type="http://schemas.openxmlformats.org/officeDocument/2006/relationships/image" Target="../media/image26.svg"/><Relationship Id="rId10" Type="http://schemas.openxmlformats.org/officeDocument/2006/relationships/image" Target="../media/image8.svg"/><Relationship Id="rId19" Type="http://schemas.openxmlformats.org/officeDocument/2006/relationships/image" Target="../media/image17.svg"/><Relationship Id="rId31" Type="http://schemas.openxmlformats.org/officeDocument/2006/relationships/image" Target="../media/image28.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svg"/><Relationship Id="rId30" Type="http://schemas.openxmlformats.org/officeDocument/2006/relationships/image" Target="../media/image27.svg"/><Relationship Id="rId8"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8D5D-EE3E-F525-B67E-2F885E5B010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5217FA5-AD09-6D66-21AC-02F3651BC10D}"/>
              </a:ext>
            </a:extLst>
          </p:cNvPr>
          <p:cNvSpPr/>
          <p:nvPr/>
        </p:nvSpPr>
        <p:spPr>
          <a:xfrm>
            <a:off x="0" y="2"/>
            <a:ext cx="36576001" cy="3799669"/>
          </a:xfrm>
          <a:prstGeom prst="rect">
            <a:avLst/>
          </a:prstGeom>
          <a:solidFill>
            <a:srgbClr val="0B2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50" dirty="0"/>
          </a:p>
        </p:txBody>
      </p:sp>
      <p:sp>
        <p:nvSpPr>
          <p:cNvPr id="26" name="Poster title">
            <a:extLst>
              <a:ext uri="{FF2B5EF4-FFF2-40B4-BE49-F238E27FC236}">
                <a16:creationId xmlns:a16="http://schemas.microsoft.com/office/drawing/2014/main" id="{84A47794-742B-3ACE-1D85-2BB14E67FBC3}"/>
              </a:ext>
            </a:extLst>
          </p:cNvPr>
          <p:cNvSpPr txBox="1">
            <a:spLocks/>
          </p:cNvSpPr>
          <p:nvPr/>
        </p:nvSpPr>
        <p:spPr>
          <a:xfrm>
            <a:off x="-683265" y="1119827"/>
            <a:ext cx="33783038" cy="944421"/>
          </a:xfrm>
          <a:prstGeom prst="rect">
            <a:avLst/>
          </a:prstGeom>
        </p:spPr>
        <p:txBody>
          <a:bodyPr vert="horz" wrap="square" lIns="0" tIns="30031" rIns="0" bIns="0" rtlCol="0" anchor="b">
            <a:sp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marL="23099">
              <a:spcBef>
                <a:spcPts val="237"/>
              </a:spcBef>
            </a:pPr>
            <a:r>
              <a:rPr lang="en-US" sz="6600" b="1" spc="46" dirty="0">
                <a:solidFill>
                  <a:schemeClr val="bg1"/>
                </a:solidFill>
                <a:latin typeface="Avenir Next LT Pro Demi" panose="020B0504020202020204" pitchFamily="34" charset="77"/>
              </a:rPr>
              <a:t>Flight Validation of a Time-Critical Autonomous Drone Swarm System</a:t>
            </a:r>
          </a:p>
        </p:txBody>
      </p:sp>
      <p:sp>
        <p:nvSpPr>
          <p:cNvPr id="5" name="Section 2 head">
            <a:extLst>
              <a:ext uri="{FF2B5EF4-FFF2-40B4-BE49-F238E27FC236}">
                <a16:creationId xmlns:a16="http://schemas.microsoft.com/office/drawing/2014/main" id="{1C418D4E-2A51-E8D1-74D0-5E275863E4BE}"/>
              </a:ext>
            </a:extLst>
          </p:cNvPr>
          <p:cNvSpPr txBox="1"/>
          <p:nvPr/>
        </p:nvSpPr>
        <p:spPr>
          <a:xfrm>
            <a:off x="3350360" y="3117047"/>
            <a:ext cx="25251843" cy="585488"/>
          </a:xfrm>
          <a:prstGeom prst="rect">
            <a:avLst/>
          </a:prstGeom>
        </p:spPr>
        <p:txBody>
          <a:bodyPr vert="horz" wrap="square" lIns="0" tIns="31186" rIns="0" bIns="0" rtlCol="0">
            <a:spAutoFit/>
          </a:bodyPr>
          <a:lstStyle/>
          <a:p>
            <a:pPr marL="23099" algn="ctr">
              <a:spcBef>
                <a:spcPts val="246"/>
              </a:spcBef>
            </a:pPr>
            <a:r>
              <a:rPr lang="en-US" sz="3600" i="1" dirty="0">
                <a:solidFill>
                  <a:schemeClr val="bg1"/>
                </a:solidFill>
                <a:latin typeface="Avenir Next LT Pro" panose="020B0504020202020204" pitchFamily="34" charset="77"/>
                <a:cs typeface="AcuminProExtraCond-BlackItalic"/>
              </a:rPr>
              <a:t>Electrical and Computer Engineering, Auburn University</a:t>
            </a:r>
            <a:endParaRPr sz="3600" i="1" dirty="0">
              <a:solidFill>
                <a:schemeClr val="bg1"/>
              </a:solidFill>
              <a:latin typeface="Avenir Next LT Pro" panose="020B0504020202020204" pitchFamily="34" charset="77"/>
              <a:cs typeface="AcuminProExtraCond-BlackItalic"/>
            </a:endParaRPr>
          </a:p>
        </p:txBody>
      </p:sp>
      <p:grpSp>
        <p:nvGrpSpPr>
          <p:cNvPr id="111" name="Group 110">
            <a:extLst>
              <a:ext uri="{FF2B5EF4-FFF2-40B4-BE49-F238E27FC236}">
                <a16:creationId xmlns:a16="http://schemas.microsoft.com/office/drawing/2014/main" id="{86EFB80E-047F-3516-1F15-EAF463B8CBBD}"/>
              </a:ext>
            </a:extLst>
          </p:cNvPr>
          <p:cNvGrpSpPr/>
          <p:nvPr/>
        </p:nvGrpSpPr>
        <p:grpSpPr>
          <a:xfrm>
            <a:off x="2399879" y="2125309"/>
            <a:ext cx="27067785" cy="1268364"/>
            <a:chOff x="1748959" y="2041757"/>
            <a:chExt cx="30302212" cy="1707382"/>
          </a:xfrm>
        </p:grpSpPr>
        <p:sp>
          <p:nvSpPr>
            <p:cNvPr id="3" name="Section 2 head">
              <a:extLst>
                <a:ext uri="{FF2B5EF4-FFF2-40B4-BE49-F238E27FC236}">
                  <a16:creationId xmlns:a16="http://schemas.microsoft.com/office/drawing/2014/main" id="{20E7064C-88E5-7873-17FD-B9077E5DEC01}"/>
                </a:ext>
              </a:extLst>
            </p:cNvPr>
            <p:cNvSpPr txBox="1"/>
            <p:nvPr/>
          </p:nvSpPr>
          <p:spPr>
            <a:xfrm>
              <a:off x="1748959" y="2041757"/>
              <a:ext cx="30302212" cy="953866"/>
            </a:xfrm>
            <a:prstGeom prst="rect">
              <a:avLst/>
            </a:prstGeom>
          </p:spPr>
          <p:txBody>
            <a:bodyPr vert="horz" wrap="square" lIns="0" tIns="31186" rIns="0" bIns="0" rtlCol="0">
              <a:spAutoFit/>
            </a:bodyPr>
            <a:lstStyle/>
            <a:p>
              <a:pPr marL="23099" algn="ctr">
                <a:spcBef>
                  <a:spcPts val="246"/>
                </a:spcBef>
              </a:pPr>
              <a:r>
                <a:rPr lang="en-US" sz="4400" b="1" i="1" dirty="0">
                  <a:solidFill>
                    <a:schemeClr val="bg1"/>
                  </a:solidFill>
                  <a:latin typeface="Avenir Next LT Pro Demi" panose="020B0504020202020204" pitchFamily="34" charset="77"/>
                  <a:cs typeface="AcuminProExtraCond-BlackItalic"/>
                </a:rPr>
                <a:t>Logan Green, Dr. Bosen Lian, Colin Bucey</a:t>
              </a:r>
              <a:endParaRPr sz="4400" b="1" i="1" dirty="0">
                <a:solidFill>
                  <a:schemeClr val="bg1"/>
                </a:solidFill>
                <a:latin typeface="Avenir Next LT Pro Demi" panose="020B0504020202020204" pitchFamily="34" charset="77"/>
                <a:cs typeface="AcuminProExtraCond-BlackItalic"/>
              </a:endParaRPr>
            </a:p>
          </p:txBody>
        </p:sp>
        <p:sp>
          <p:nvSpPr>
            <p:cNvPr id="29" name="Section 2 head">
              <a:extLst>
                <a:ext uri="{FF2B5EF4-FFF2-40B4-BE49-F238E27FC236}">
                  <a16:creationId xmlns:a16="http://schemas.microsoft.com/office/drawing/2014/main" id="{377964A5-40BD-2E64-B09D-018E78AC6497}"/>
                </a:ext>
              </a:extLst>
            </p:cNvPr>
            <p:cNvSpPr txBox="1"/>
            <p:nvPr/>
          </p:nvSpPr>
          <p:spPr>
            <a:xfrm>
              <a:off x="5560844" y="2670981"/>
              <a:ext cx="19547848" cy="1078158"/>
            </a:xfrm>
            <a:prstGeom prst="rect">
              <a:avLst/>
            </a:prstGeom>
          </p:spPr>
          <p:txBody>
            <a:bodyPr vert="horz" wrap="square" lIns="0" tIns="31186" rIns="0" bIns="0" rtlCol="0">
              <a:spAutoFit/>
            </a:bodyPr>
            <a:lstStyle/>
            <a:p>
              <a:pPr marL="23099" algn="ctr">
                <a:spcBef>
                  <a:spcPts val="246"/>
                </a:spcBef>
              </a:pPr>
              <a:r>
                <a:rPr lang="en-US" sz="5000" b="1" i="1" dirty="0">
                  <a:solidFill>
                    <a:schemeClr val="bg1"/>
                  </a:solidFill>
                  <a:latin typeface="Avenir Next LT Pro Demi" panose="020B0504020202020204" pitchFamily="34" charset="77"/>
                  <a:cs typeface="AcuminProExtraCond-BlackItalic"/>
                </a:rPr>
                <a:t> </a:t>
              </a:r>
            </a:p>
          </p:txBody>
        </p:sp>
      </p:grpSp>
      <p:sp>
        <p:nvSpPr>
          <p:cNvPr id="174" name="Rectangle 173">
            <a:extLst>
              <a:ext uri="{FF2B5EF4-FFF2-40B4-BE49-F238E27FC236}">
                <a16:creationId xmlns:a16="http://schemas.microsoft.com/office/drawing/2014/main" id="{A722C2B6-8A04-21FE-1CD7-66521EE75491}"/>
              </a:ext>
            </a:extLst>
          </p:cNvPr>
          <p:cNvSpPr/>
          <p:nvPr/>
        </p:nvSpPr>
        <p:spPr>
          <a:xfrm>
            <a:off x="315419" y="3935242"/>
            <a:ext cx="9842752" cy="6907926"/>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B2471AC-3FED-B465-2033-CADACEECD1FE}"/>
              </a:ext>
            </a:extLst>
          </p:cNvPr>
          <p:cNvSpPr txBox="1"/>
          <p:nvPr/>
        </p:nvSpPr>
        <p:spPr>
          <a:xfrm>
            <a:off x="341133" y="4533052"/>
            <a:ext cx="9747778" cy="6370975"/>
          </a:xfrm>
          <a:prstGeom prst="rect">
            <a:avLst/>
          </a:prstGeom>
          <a:noFill/>
        </p:spPr>
        <p:txBody>
          <a:bodyPr wrap="square">
            <a:spAutoFit/>
          </a:bodyPr>
          <a:lstStyle/>
          <a:p>
            <a:r>
              <a:rPr lang="en-US" sz="2400" dirty="0"/>
              <a:t>Previous work has characterized multirotor flight in motion-capture arenas with millimeter precision, quantifying trajectory tracking error, and has measured sim-to-real degradation in mission time and area coverage. Both evaluate how a vehicle follows a path, rather than whether the search strategy encoded in that path retains its advantage once flown. A maritime SAR simulation environment was developed to evaluate multiple search algorithms across diverse probability fields and environmental conditions. The resulting performance data were used to train a neural network (MLP) capable of selecting the most effective search strategy for a given scenario. Multiple search strategies were flown repeatedly across a range of belief fields in a motion-capture volume, each flight paired with a simulation of its own plan under identical conditions. The strategy selected in simulation remained the best performer in flight in every environment tested, although execution cost roughly one quarter of absolute survival. This loss was dominated by timing rather than path geometry and shrank measurably as mission scale increased.</a:t>
            </a:r>
            <a:endParaRPr lang="en-US" sz="1167"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117" name="Graphic 116">
            <a:extLst>
              <a:ext uri="{FF2B5EF4-FFF2-40B4-BE49-F238E27FC236}">
                <a16:creationId xmlns:a16="http://schemas.microsoft.com/office/drawing/2014/main" id="{BC966592-1D2D-43A0-62BF-C7E47620F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20" y="3921052"/>
            <a:ext cx="9852589" cy="673659"/>
          </a:xfrm>
          <a:prstGeom prst="rect">
            <a:avLst/>
          </a:prstGeom>
        </p:spPr>
      </p:pic>
      <p:grpSp>
        <p:nvGrpSpPr>
          <p:cNvPr id="261" name="Group 260">
            <a:extLst>
              <a:ext uri="{FF2B5EF4-FFF2-40B4-BE49-F238E27FC236}">
                <a16:creationId xmlns:a16="http://schemas.microsoft.com/office/drawing/2014/main" id="{1133B699-0FD0-23ED-D917-C541C10AE5E1}"/>
              </a:ext>
            </a:extLst>
          </p:cNvPr>
          <p:cNvGrpSpPr/>
          <p:nvPr/>
        </p:nvGrpSpPr>
        <p:grpSpPr>
          <a:xfrm>
            <a:off x="236153" y="11991417"/>
            <a:ext cx="10075733" cy="9326998"/>
            <a:chOff x="236153" y="11000817"/>
            <a:chExt cx="10075733" cy="9326998"/>
          </a:xfrm>
        </p:grpSpPr>
        <p:pic>
          <p:nvPicPr>
            <p:cNvPr id="173" name="Graphic 172">
              <a:extLst>
                <a:ext uri="{FF2B5EF4-FFF2-40B4-BE49-F238E27FC236}">
                  <a16:creationId xmlns:a16="http://schemas.microsoft.com/office/drawing/2014/main" id="{1D8872A3-061A-C37B-B1C2-E1175EEE5F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29760" y="14303902"/>
              <a:ext cx="7282126" cy="4551329"/>
            </a:xfrm>
            <a:prstGeom prst="rect">
              <a:avLst/>
            </a:prstGeom>
          </p:spPr>
        </p:pic>
        <p:pic>
          <p:nvPicPr>
            <p:cNvPr id="178" name="Graphic 177">
              <a:extLst>
                <a:ext uri="{FF2B5EF4-FFF2-40B4-BE49-F238E27FC236}">
                  <a16:creationId xmlns:a16="http://schemas.microsoft.com/office/drawing/2014/main" id="{08F969B0-639F-AC3A-C96E-55D28BB8094B}"/>
                </a:ext>
              </a:extLst>
            </p:cNvPr>
            <p:cNvPicPr>
              <a:picLocks noChangeAspect="1"/>
            </p:cNvPicPr>
            <p:nvPr/>
          </p:nvPicPr>
          <p:blipFill>
            <a:blip>
              <a:extLst>
                <a:ext uri="{96DAC541-7B7A-43D3-8B79-37D633B846F1}">
                  <asvg:svgBlip xmlns:asvg="http://schemas.microsoft.com/office/drawing/2016/SVG/main" r:embed="rId5"/>
                </a:ext>
              </a:extLst>
            </a:blip>
            <a:srcRect l="22861" r="5201"/>
            <a:stretch>
              <a:fillRect/>
            </a:stretch>
          </p:blipFill>
          <p:spPr>
            <a:xfrm>
              <a:off x="236153" y="14395136"/>
              <a:ext cx="2992926" cy="5182188"/>
            </a:xfrm>
            <a:prstGeom prst="rect">
              <a:avLst/>
            </a:prstGeom>
          </p:spPr>
        </p:pic>
        <p:cxnSp>
          <p:nvCxnSpPr>
            <p:cNvPr id="180" name="Straight Connector 179">
              <a:extLst>
                <a:ext uri="{FF2B5EF4-FFF2-40B4-BE49-F238E27FC236}">
                  <a16:creationId xmlns:a16="http://schemas.microsoft.com/office/drawing/2014/main" id="{4F4CDDE4-9652-688B-A880-9DFB04F89D72}"/>
                </a:ext>
              </a:extLst>
            </p:cNvPr>
            <p:cNvCxnSpPr/>
            <p:nvPr/>
          </p:nvCxnSpPr>
          <p:spPr>
            <a:xfrm>
              <a:off x="3229079" y="14387630"/>
              <a:ext cx="0" cy="5694745"/>
            </a:xfrm>
            <a:prstGeom prst="line">
              <a:avLst/>
            </a:prstGeom>
            <a:ln>
              <a:solidFill>
                <a:srgbClr val="0C2340"/>
              </a:solidFill>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BA8356D6-BD08-7285-4E4A-ED552A4A6B46}"/>
                </a:ext>
              </a:extLst>
            </p:cNvPr>
            <p:cNvSpPr txBox="1"/>
            <p:nvPr/>
          </p:nvSpPr>
          <p:spPr>
            <a:xfrm>
              <a:off x="370055" y="11652880"/>
              <a:ext cx="9894796" cy="5262979"/>
            </a:xfrm>
            <a:prstGeom prst="rect">
              <a:avLst/>
            </a:prstGeom>
            <a:noFill/>
          </p:spPr>
          <p:txBody>
            <a:bodyPr wrap="square" rtlCol="0">
              <a:spAutoFit/>
            </a:bodyPr>
            <a:lstStyle/>
            <a:p>
              <a:r>
                <a:rPr lang="en-US" sz="2400" dirty="0"/>
                <a:t>An autonomous drone swarm was constructed. It receives instructions via an offboard Python controller that calculates and transmits “setpoints”.  Although a fully functional three-drone swarm was developed, experimental data were collected using a single drone to eliminate aerodynamic interference caused by the confined indoor test environment. This allowed vehicle performance to be characterized independently, with swarm performance inferred through extrapolation.</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grpSp>
          <p:nvGrpSpPr>
            <p:cNvPr id="151" name="Group 150">
              <a:extLst>
                <a:ext uri="{FF2B5EF4-FFF2-40B4-BE49-F238E27FC236}">
                  <a16:creationId xmlns:a16="http://schemas.microsoft.com/office/drawing/2014/main" id="{CAB438F5-3DD8-E139-1B66-0347677CB1B3}"/>
                </a:ext>
              </a:extLst>
            </p:cNvPr>
            <p:cNvGrpSpPr/>
            <p:nvPr/>
          </p:nvGrpSpPr>
          <p:grpSpPr>
            <a:xfrm>
              <a:off x="312211" y="11000817"/>
              <a:ext cx="9849168" cy="9326998"/>
              <a:chOff x="312211" y="12472063"/>
              <a:chExt cx="9849168" cy="9326998"/>
            </a:xfrm>
          </p:grpSpPr>
          <p:sp>
            <p:nvSpPr>
              <p:cNvPr id="182" name="Rectangle 181">
                <a:extLst>
                  <a:ext uri="{FF2B5EF4-FFF2-40B4-BE49-F238E27FC236}">
                    <a16:creationId xmlns:a16="http://schemas.microsoft.com/office/drawing/2014/main" id="{ABE318B0-57CE-6C9F-17AA-14A1853FE6AB}"/>
                  </a:ext>
                </a:extLst>
              </p:cNvPr>
              <p:cNvSpPr/>
              <p:nvPr/>
            </p:nvSpPr>
            <p:spPr>
              <a:xfrm>
                <a:off x="312211" y="12475356"/>
                <a:ext cx="9845960" cy="9323705"/>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Picture 123">
                <a:extLst>
                  <a:ext uri="{FF2B5EF4-FFF2-40B4-BE49-F238E27FC236}">
                    <a16:creationId xmlns:a16="http://schemas.microsoft.com/office/drawing/2014/main" id="{AB4BA69E-C7BA-5A48-FF92-8172F0D86686}"/>
                  </a:ext>
                </a:extLst>
              </p:cNvPr>
              <p:cNvPicPr>
                <a:picLocks noChangeAspect="1"/>
              </p:cNvPicPr>
              <p:nvPr/>
            </p:nvPicPr>
            <p:blipFill>
              <a:blip r:embed="rId6"/>
              <a:stretch>
                <a:fillRect/>
              </a:stretch>
            </p:blipFill>
            <p:spPr>
              <a:xfrm>
                <a:off x="315420" y="12472063"/>
                <a:ext cx="9845959" cy="668119"/>
              </a:xfrm>
              <a:prstGeom prst="rect">
                <a:avLst/>
              </a:prstGeom>
            </p:spPr>
          </p:pic>
        </p:grpSp>
      </p:grpSp>
      <p:grpSp>
        <p:nvGrpSpPr>
          <p:cNvPr id="253" name="Group 252">
            <a:extLst>
              <a:ext uri="{FF2B5EF4-FFF2-40B4-BE49-F238E27FC236}">
                <a16:creationId xmlns:a16="http://schemas.microsoft.com/office/drawing/2014/main" id="{98B7E3AD-6726-3701-7671-A876B6A18217}"/>
              </a:ext>
            </a:extLst>
          </p:cNvPr>
          <p:cNvGrpSpPr/>
          <p:nvPr/>
        </p:nvGrpSpPr>
        <p:grpSpPr>
          <a:xfrm>
            <a:off x="312211" y="22844360"/>
            <a:ext cx="10497777" cy="4462299"/>
            <a:chOff x="312211" y="22946937"/>
            <a:chExt cx="10497777" cy="4462299"/>
          </a:xfrm>
        </p:grpSpPr>
        <p:grpSp>
          <p:nvGrpSpPr>
            <p:cNvPr id="120" name="Group 119">
              <a:extLst>
                <a:ext uri="{FF2B5EF4-FFF2-40B4-BE49-F238E27FC236}">
                  <a16:creationId xmlns:a16="http://schemas.microsoft.com/office/drawing/2014/main" id="{A61F4614-F48A-3FBC-D0EB-C70D1397D942}"/>
                </a:ext>
              </a:extLst>
            </p:cNvPr>
            <p:cNvGrpSpPr/>
            <p:nvPr/>
          </p:nvGrpSpPr>
          <p:grpSpPr>
            <a:xfrm>
              <a:off x="312211" y="22946937"/>
              <a:ext cx="10497777" cy="4387620"/>
              <a:chOff x="11233538" y="4133763"/>
              <a:chExt cx="10597509" cy="4040916"/>
            </a:xfrm>
          </p:grpSpPr>
          <p:grpSp>
            <p:nvGrpSpPr>
              <p:cNvPr id="109" name="Group 108">
                <a:extLst>
                  <a:ext uri="{FF2B5EF4-FFF2-40B4-BE49-F238E27FC236}">
                    <a16:creationId xmlns:a16="http://schemas.microsoft.com/office/drawing/2014/main" id="{D444DA5E-03E5-7384-32B8-032E17A8C1B1}"/>
                  </a:ext>
                </a:extLst>
              </p:cNvPr>
              <p:cNvGrpSpPr/>
              <p:nvPr/>
            </p:nvGrpSpPr>
            <p:grpSpPr>
              <a:xfrm>
                <a:off x="11507577" y="5086256"/>
                <a:ext cx="10323470" cy="3088423"/>
                <a:chOff x="13799211" y="7783018"/>
                <a:chExt cx="14199102" cy="4038096"/>
              </a:xfrm>
            </p:grpSpPr>
            <p:grpSp>
              <p:nvGrpSpPr>
                <p:cNvPr id="56" name="Group 55">
                  <a:extLst>
                    <a:ext uri="{FF2B5EF4-FFF2-40B4-BE49-F238E27FC236}">
                      <a16:creationId xmlns:a16="http://schemas.microsoft.com/office/drawing/2014/main" id="{A75C8A6E-0687-1D34-861B-1C3C5DDB0036}"/>
                    </a:ext>
                  </a:extLst>
                </p:cNvPr>
                <p:cNvGrpSpPr/>
                <p:nvPr/>
              </p:nvGrpSpPr>
              <p:grpSpPr>
                <a:xfrm>
                  <a:off x="19984815" y="7790662"/>
                  <a:ext cx="8013498" cy="1461723"/>
                  <a:chOff x="15846890" y="12074432"/>
                  <a:chExt cx="8013498" cy="1461723"/>
                </a:xfrm>
              </p:grpSpPr>
              <p:pic>
                <p:nvPicPr>
                  <p:cNvPr id="46" name="Graphic 45">
                    <a:extLst>
                      <a:ext uri="{FF2B5EF4-FFF2-40B4-BE49-F238E27FC236}">
                        <a16:creationId xmlns:a16="http://schemas.microsoft.com/office/drawing/2014/main" id="{FDD8756E-A065-C95B-C297-6733F4574CE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846890" y="12802730"/>
                    <a:ext cx="6657976" cy="733425"/>
                  </a:xfrm>
                  <a:prstGeom prst="rect">
                    <a:avLst/>
                  </a:prstGeom>
                </p:spPr>
              </p:pic>
              <p:sp>
                <p:nvSpPr>
                  <p:cNvPr id="52" name="TextBox 51">
                    <a:extLst>
                      <a:ext uri="{FF2B5EF4-FFF2-40B4-BE49-F238E27FC236}">
                        <a16:creationId xmlns:a16="http://schemas.microsoft.com/office/drawing/2014/main" id="{B91AFD81-AFDF-44AF-B2A9-F9812A5358A7}"/>
                      </a:ext>
                    </a:extLst>
                  </p:cNvPr>
                  <p:cNvSpPr txBox="1"/>
                  <p:nvPr/>
                </p:nvSpPr>
                <p:spPr>
                  <a:xfrm>
                    <a:off x="15846890" y="12074432"/>
                    <a:ext cx="8013498" cy="523141"/>
                  </a:xfrm>
                  <a:prstGeom prst="rect">
                    <a:avLst/>
                  </a:prstGeom>
                  <a:noFill/>
                </p:spPr>
                <p:txBody>
                  <a:bodyPr wrap="square" rtlCol="0">
                    <a:spAutoFit/>
                  </a:bodyPr>
                  <a:lstStyle/>
                  <a:p>
                    <a:r>
                      <a:rPr lang="en-US" sz="2000" b="1" dirty="0"/>
                      <a:t>Bayesian Cell Probability Update Function</a:t>
                    </a:r>
                  </a:p>
                </p:txBody>
              </p:sp>
            </p:grpSp>
            <p:grpSp>
              <p:nvGrpSpPr>
                <p:cNvPr id="58" name="Group 57">
                  <a:extLst>
                    <a:ext uri="{FF2B5EF4-FFF2-40B4-BE49-F238E27FC236}">
                      <a16:creationId xmlns:a16="http://schemas.microsoft.com/office/drawing/2014/main" id="{621DD94D-8F36-2E39-FCEF-976FFC0DF243}"/>
                    </a:ext>
                  </a:extLst>
                </p:cNvPr>
                <p:cNvGrpSpPr/>
                <p:nvPr/>
              </p:nvGrpSpPr>
              <p:grpSpPr>
                <a:xfrm>
                  <a:off x="13799211" y="10047137"/>
                  <a:ext cx="7781925" cy="1764452"/>
                  <a:chOff x="14628871" y="13317701"/>
                  <a:chExt cx="7781925" cy="1764452"/>
                </a:xfrm>
              </p:grpSpPr>
              <p:pic>
                <p:nvPicPr>
                  <p:cNvPr id="41" name="Graphic 40">
                    <a:extLst>
                      <a:ext uri="{FF2B5EF4-FFF2-40B4-BE49-F238E27FC236}">
                        <a16:creationId xmlns:a16="http://schemas.microsoft.com/office/drawing/2014/main" id="{D9EE62DB-6AE3-1561-FE3D-D1EE92FF87E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628871" y="13643878"/>
                    <a:ext cx="7781925" cy="1438275"/>
                  </a:xfrm>
                  <a:prstGeom prst="rect">
                    <a:avLst/>
                  </a:prstGeom>
                </p:spPr>
              </p:pic>
              <p:sp>
                <p:nvSpPr>
                  <p:cNvPr id="57" name="TextBox 56">
                    <a:extLst>
                      <a:ext uri="{FF2B5EF4-FFF2-40B4-BE49-F238E27FC236}">
                        <a16:creationId xmlns:a16="http://schemas.microsoft.com/office/drawing/2014/main" id="{F62C2B53-3477-8A27-C40E-AD99AF2691FA}"/>
                      </a:ext>
                    </a:extLst>
                  </p:cNvPr>
                  <p:cNvSpPr txBox="1"/>
                  <p:nvPr/>
                </p:nvSpPr>
                <p:spPr>
                  <a:xfrm>
                    <a:off x="14656784" y="13317701"/>
                    <a:ext cx="4175761" cy="523141"/>
                  </a:xfrm>
                  <a:prstGeom prst="rect">
                    <a:avLst/>
                  </a:prstGeom>
                  <a:noFill/>
                </p:spPr>
                <p:txBody>
                  <a:bodyPr wrap="square" rtlCol="0">
                    <a:spAutoFit/>
                  </a:bodyPr>
                  <a:lstStyle/>
                  <a:p>
                    <a:r>
                      <a:rPr lang="en-US" sz="2000" b="1" dirty="0"/>
                      <a:t>PID Controller Equation</a:t>
                    </a:r>
                  </a:p>
                </p:txBody>
              </p:sp>
            </p:grpSp>
            <p:grpSp>
              <p:nvGrpSpPr>
                <p:cNvPr id="62" name="Group 61">
                  <a:extLst>
                    <a:ext uri="{FF2B5EF4-FFF2-40B4-BE49-F238E27FC236}">
                      <a16:creationId xmlns:a16="http://schemas.microsoft.com/office/drawing/2014/main" id="{524EB1A7-230B-8926-D9B5-E83D2F9DF6E9}"/>
                    </a:ext>
                  </a:extLst>
                </p:cNvPr>
                <p:cNvGrpSpPr/>
                <p:nvPr/>
              </p:nvGrpSpPr>
              <p:grpSpPr>
                <a:xfrm>
                  <a:off x="22217764" y="9976434"/>
                  <a:ext cx="4483455" cy="1844680"/>
                  <a:chOff x="22863744" y="13118338"/>
                  <a:chExt cx="4483455" cy="1844680"/>
                </a:xfrm>
              </p:grpSpPr>
              <p:pic>
                <p:nvPicPr>
                  <p:cNvPr id="43" name="Graphic 42">
                    <a:extLst>
                      <a:ext uri="{FF2B5EF4-FFF2-40B4-BE49-F238E27FC236}">
                        <a16:creationId xmlns:a16="http://schemas.microsoft.com/office/drawing/2014/main" id="{B4ABBDD7-7AD8-09A5-CC3E-7526DCFC805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863744" y="13505693"/>
                    <a:ext cx="3305176" cy="1457325"/>
                  </a:xfrm>
                  <a:prstGeom prst="rect">
                    <a:avLst/>
                  </a:prstGeom>
                </p:spPr>
              </p:pic>
              <p:sp>
                <p:nvSpPr>
                  <p:cNvPr id="61" name="TextBox 60">
                    <a:extLst>
                      <a:ext uri="{FF2B5EF4-FFF2-40B4-BE49-F238E27FC236}">
                        <a16:creationId xmlns:a16="http://schemas.microsoft.com/office/drawing/2014/main" id="{85431160-EC0B-B108-7397-8218E6E61384}"/>
                      </a:ext>
                    </a:extLst>
                  </p:cNvPr>
                  <p:cNvSpPr txBox="1"/>
                  <p:nvPr/>
                </p:nvSpPr>
                <p:spPr>
                  <a:xfrm>
                    <a:off x="22897119" y="13118338"/>
                    <a:ext cx="4450080" cy="523142"/>
                  </a:xfrm>
                  <a:prstGeom prst="rect">
                    <a:avLst/>
                  </a:prstGeom>
                  <a:noFill/>
                </p:spPr>
                <p:txBody>
                  <a:bodyPr wrap="square" rtlCol="0">
                    <a:spAutoFit/>
                  </a:bodyPr>
                  <a:lstStyle/>
                  <a:p>
                    <a:r>
                      <a:rPr lang="en-US" sz="2000" b="1" dirty="0"/>
                      <a:t>Total Survivability Scorer</a:t>
                    </a:r>
                  </a:p>
                </p:txBody>
              </p:sp>
            </p:grpSp>
            <p:grpSp>
              <p:nvGrpSpPr>
                <p:cNvPr id="108" name="Group 107">
                  <a:extLst>
                    <a:ext uri="{FF2B5EF4-FFF2-40B4-BE49-F238E27FC236}">
                      <a16:creationId xmlns:a16="http://schemas.microsoft.com/office/drawing/2014/main" id="{3F9C95F5-AD5F-26D8-6158-CF77C2511D10}"/>
                    </a:ext>
                  </a:extLst>
                </p:cNvPr>
                <p:cNvGrpSpPr/>
                <p:nvPr/>
              </p:nvGrpSpPr>
              <p:grpSpPr>
                <a:xfrm>
                  <a:off x="13799211" y="7783018"/>
                  <a:ext cx="5421958" cy="1756519"/>
                  <a:chOff x="15013510" y="7929487"/>
                  <a:chExt cx="5421958" cy="1756519"/>
                </a:xfrm>
              </p:grpSpPr>
              <p:sp>
                <p:nvSpPr>
                  <p:cNvPr id="59" name="TextBox 58">
                    <a:extLst>
                      <a:ext uri="{FF2B5EF4-FFF2-40B4-BE49-F238E27FC236}">
                        <a16:creationId xmlns:a16="http://schemas.microsoft.com/office/drawing/2014/main" id="{F80C55F1-7048-7C0C-C48D-103B48BC0A90}"/>
                      </a:ext>
                    </a:extLst>
                  </p:cNvPr>
                  <p:cNvSpPr txBox="1"/>
                  <p:nvPr/>
                </p:nvSpPr>
                <p:spPr>
                  <a:xfrm>
                    <a:off x="15013510" y="7929487"/>
                    <a:ext cx="5288279" cy="925557"/>
                  </a:xfrm>
                  <a:prstGeom prst="rect">
                    <a:avLst/>
                  </a:prstGeom>
                  <a:noFill/>
                </p:spPr>
                <p:txBody>
                  <a:bodyPr wrap="square" rtlCol="0">
                    <a:spAutoFit/>
                  </a:bodyPr>
                  <a:lstStyle/>
                  <a:p>
                    <a:r>
                      <a:rPr lang="en-US" sz="2000" b="1" dirty="0"/>
                      <a:t>Time Dependent Coverage Equation</a:t>
                    </a:r>
                  </a:p>
                </p:txBody>
              </p:sp>
              <p:pic>
                <p:nvPicPr>
                  <p:cNvPr id="107" name="Graphic 106">
                    <a:extLst>
                      <a:ext uri="{FF2B5EF4-FFF2-40B4-BE49-F238E27FC236}">
                        <a16:creationId xmlns:a16="http://schemas.microsoft.com/office/drawing/2014/main" id="{0B4D8002-E5CD-F867-F763-CCCA36D2F7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044320" y="8304879"/>
                    <a:ext cx="5391148" cy="1381127"/>
                  </a:xfrm>
                  <a:prstGeom prst="rect">
                    <a:avLst/>
                  </a:prstGeom>
                </p:spPr>
              </p:pic>
            </p:grpSp>
          </p:grpSp>
          <p:pic>
            <p:nvPicPr>
              <p:cNvPr id="119" name="Graphic 118">
                <a:extLst>
                  <a:ext uri="{FF2B5EF4-FFF2-40B4-BE49-F238E27FC236}">
                    <a16:creationId xmlns:a16="http://schemas.microsoft.com/office/drawing/2014/main" id="{DB24ED73-67C4-D9C4-998F-31873B03CA8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233538" y="4133763"/>
                <a:ext cx="9949431" cy="673659"/>
              </a:xfrm>
              <a:prstGeom prst="rect">
                <a:avLst/>
              </a:prstGeom>
            </p:spPr>
          </p:pic>
        </p:grpSp>
        <p:sp>
          <p:nvSpPr>
            <p:cNvPr id="184" name="Rectangle 183">
              <a:extLst>
                <a:ext uri="{FF2B5EF4-FFF2-40B4-BE49-F238E27FC236}">
                  <a16:creationId xmlns:a16="http://schemas.microsoft.com/office/drawing/2014/main" id="{C3EEDF0A-0070-A2AE-E5E5-753FE731FF8A}"/>
                </a:ext>
              </a:extLst>
            </p:cNvPr>
            <p:cNvSpPr/>
            <p:nvPr/>
          </p:nvSpPr>
          <p:spPr>
            <a:xfrm>
              <a:off x="328620" y="22950189"/>
              <a:ext cx="9831840" cy="4459047"/>
            </a:xfrm>
            <a:prstGeom prst="rect">
              <a:avLst/>
            </a:prstGeom>
            <a:noFill/>
            <a:ln>
              <a:solidFill>
                <a:srgbClr val="0B2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5" name="Group 194">
            <a:extLst>
              <a:ext uri="{FF2B5EF4-FFF2-40B4-BE49-F238E27FC236}">
                <a16:creationId xmlns:a16="http://schemas.microsoft.com/office/drawing/2014/main" id="{EB9192A4-35D1-C9BC-BB41-0E104AA9126D}"/>
              </a:ext>
            </a:extLst>
          </p:cNvPr>
          <p:cNvGrpSpPr/>
          <p:nvPr/>
        </p:nvGrpSpPr>
        <p:grpSpPr>
          <a:xfrm>
            <a:off x="17079758" y="3927697"/>
            <a:ext cx="8758866" cy="4951761"/>
            <a:chOff x="17009420" y="3927697"/>
            <a:chExt cx="8758866" cy="4951761"/>
          </a:xfrm>
        </p:grpSpPr>
        <p:grpSp>
          <p:nvGrpSpPr>
            <p:cNvPr id="30" name="Group 29">
              <a:extLst>
                <a:ext uri="{FF2B5EF4-FFF2-40B4-BE49-F238E27FC236}">
                  <a16:creationId xmlns:a16="http://schemas.microsoft.com/office/drawing/2014/main" id="{C9C87F7C-8548-C8E3-7D8F-3CCD75372317}"/>
                </a:ext>
              </a:extLst>
            </p:cNvPr>
            <p:cNvGrpSpPr/>
            <p:nvPr/>
          </p:nvGrpSpPr>
          <p:grpSpPr>
            <a:xfrm>
              <a:off x="17009420" y="3927697"/>
              <a:ext cx="8758866" cy="4842935"/>
              <a:chOff x="16735942" y="3930095"/>
              <a:chExt cx="8758866" cy="4842935"/>
            </a:xfrm>
          </p:grpSpPr>
          <p:sp>
            <p:nvSpPr>
              <p:cNvPr id="170" name="TextBox 169">
                <a:extLst>
                  <a:ext uri="{FF2B5EF4-FFF2-40B4-BE49-F238E27FC236}">
                    <a16:creationId xmlns:a16="http://schemas.microsoft.com/office/drawing/2014/main" id="{998BAA06-9FAA-2741-3B6A-1CB35C28418C}"/>
                  </a:ext>
                </a:extLst>
              </p:cNvPr>
              <p:cNvSpPr txBox="1"/>
              <p:nvPr/>
            </p:nvSpPr>
            <p:spPr>
              <a:xfrm>
                <a:off x="16785272" y="4618046"/>
                <a:ext cx="8709536"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 176 autonomous flights completed.</a:t>
                </a:r>
              </a:p>
              <a:p>
                <a:pPr marL="342900" indent="-342900">
                  <a:buFont typeface="Arial" panose="020B0604020202020204" pitchFamily="34" charset="0"/>
                  <a:buChar char="•"/>
                </a:pPr>
                <a:r>
                  <a:rPr lang="en-US" sz="2400" dirty="0"/>
                  <a:t>Primary evaluation: 5 distinct probability fields × 6 search strategies × 3 repetitions (90 flights).</a:t>
                </a:r>
              </a:p>
              <a:p>
                <a:pPr marL="342900" indent="-342900">
                  <a:buFont typeface="Arial" panose="020B0604020202020204" pitchFamily="34" charset="0"/>
                  <a:buChar char="•"/>
                </a:pPr>
                <a:r>
                  <a:rPr lang="en-US" sz="2400" dirty="0"/>
                  <a:t> All strategies evaluated on the same field before advancing to the next field to ensure fair comparison.</a:t>
                </a:r>
              </a:p>
              <a:p>
                <a:pPr marL="342900" indent="-342900">
                  <a:buFont typeface="Arial" panose="020B0604020202020204" pitchFamily="34" charset="0"/>
                  <a:buChar char="•"/>
                </a:pPr>
                <a:r>
                  <a:rPr lang="en-US" sz="2400" dirty="0"/>
                  <a:t>Field scaling study: Field size reduced to 100%, 75%, 50%, and 35% using 3 search strategies with 3 repetitions (36 flights).</a:t>
                </a:r>
              </a:p>
              <a:p>
                <a:pPr marL="342900" indent="-342900">
                  <a:buFont typeface="Arial" panose="020B0604020202020204" pitchFamily="34" charset="0"/>
                  <a:buChar char="•"/>
                </a:pPr>
                <a:r>
                  <a:rPr lang="en-US" sz="2400" dirty="0"/>
                  <a:t>Serpentine spacing study: Search line density varied to evaluate its effect on performance.</a:t>
                </a:r>
              </a:p>
              <a:p>
                <a:pPr marL="342900" indent="-342900">
                  <a:buFont typeface="Arial" panose="020B0604020202020204" pitchFamily="34" charset="0"/>
                  <a:buChar char="•"/>
                </a:pPr>
                <a:r>
                  <a:rPr lang="en-US" sz="2400" dirty="0"/>
                  <a:t>All flights conducted above 16.6 V battery voltage for consistent flight conditions.</a:t>
                </a:r>
              </a:p>
            </p:txBody>
          </p:sp>
          <p:pic>
            <p:nvPicPr>
              <p:cNvPr id="4" name="Graphic 3">
                <a:extLst>
                  <a:ext uri="{FF2B5EF4-FFF2-40B4-BE49-F238E27FC236}">
                    <a16:creationId xmlns:a16="http://schemas.microsoft.com/office/drawing/2014/main" id="{0162772A-2202-BC2F-0345-78A0E07AB20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6735942" y="3930095"/>
                <a:ext cx="8743950" cy="676275"/>
              </a:xfrm>
              <a:prstGeom prst="rect">
                <a:avLst/>
              </a:prstGeom>
            </p:spPr>
          </p:pic>
        </p:grpSp>
        <p:sp>
          <p:nvSpPr>
            <p:cNvPr id="9" name="Rectangle 8">
              <a:extLst>
                <a:ext uri="{FF2B5EF4-FFF2-40B4-BE49-F238E27FC236}">
                  <a16:creationId xmlns:a16="http://schemas.microsoft.com/office/drawing/2014/main" id="{A345C55A-8E07-E4CA-9B2B-3BE8223457D1}"/>
                </a:ext>
              </a:extLst>
            </p:cNvPr>
            <p:cNvSpPr/>
            <p:nvPr/>
          </p:nvSpPr>
          <p:spPr>
            <a:xfrm>
              <a:off x="17009420" y="3927697"/>
              <a:ext cx="8743950" cy="4951761"/>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A2F5FBA0-AB76-5853-371A-CA85763DDD01}"/>
              </a:ext>
            </a:extLst>
          </p:cNvPr>
          <p:cNvGrpSpPr/>
          <p:nvPr/>
        </p:nvGrpSpPr>
        <p:grpSpPr>
          <a:xfrm>
            <a:off x="26341381" y="3927697"/>
            <a:ext cx="9765157" cy="6696667"/>
            <a:chOff x="26341381" y="3927697"/>
            <a:chExt cx="9765157" cy="6696667"/>
          </a:xfrm>
        </p:grpSpPr>
        <p:sp>
          <p:nvSpPr>
            <p:cNvPr id="148" name="Rectangle 147">
              <a:extLst>
                <a:ext uri="{FF2B5EF4-FFF2-40B4-BE49-F238E27FC236}">
                  <a16:creationId xmlns:a16="http://schemas.microsoft.com/office/drawing/2014/main" id="{54403994-FFF5-C09A-C5BE-F259914E00F9}"/>
                </a:ext>
              </a:extLst>
            </p:cNvPr>
            <p:cNvSpPr/>
            <p:nvPr/>
          </p:nvSpPr>
          <p:spPr>
            <a:xfrm>
              <a:off x="26341381" y="3927697"/>
              <a:ext cx="9765157" cy="6694583"/>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6" name="Graphic 155">
              <a:extLst>
                <a:ext uri="{FF2B5EF4-FFF2-40B4-BE49-F238E27FC236}">
                  <a16:creationId xmlns:a16="http://schemas.microsoft.com/office/drawing/2014/main" id="{C7210385-AE45-8B98-333C-DBA8E77B0886}"/>
                </a:ext>
              </a:extLst>
            </p:cNvPr>
            <p:cNvPicPr>
              <a:picLocks noChangeAspect="1"/>
            </p:cNvPicPr>
            <p:nvPr/>
          </p:nvPicPr>
          <p:blipFill>
            <a:blip>
              <a:extLst>
                <a:ext uri="{96DAC541-7B7A-43D3-8B79-37D633B846F1}">
                  <asvg:svgBlip xmlns:asvg="http://schemas.microsoft.com/office/drawing/2016/SVG/main" r:embed="rId13"/>
                </a:ext>
              </a:extLst>
            </a:blip>
            <a:srcRect b="6904"/>
            <a:stretch>
              <a:fillRect/>
            </a:stretch>
          </p:blipFill>
          <p:spPr>
            <a:xfrm>
              <a:off x="26356297" y="3935569"/>
              <a:ext cx="9738360" cy="6688795"/>
            </a:xfrm>
            <a:prstGeom prst="rect">
              <a:avLst/>
            </a:prstGeom>
          </p:spPr>
        </p:pic>
      </p:grpSp>
      <p:cxnSp>
        <p:nvCxnSpPr>
          <p:cNvPr id="158" name="Straight Connector 157">
            <a:extLst>
              <a:ext uri="{FF2B5EF4-FFF2-40B4-BE49-F238E27FC236}">
                <a16:creationId xmlns:a16="http://schemas.microsoft.com/office/drawing/2014/main" id="{B9932322-AAD9-0EB6-BC7E-EFC529E17332}"/>
              </a:ext>
            </a:extLst>
          </p:cNvPr>
          <p:cNvCxnSpPr/>
          <p:nvPr/>
        </p:nvCxnSpPr>
        <p:spPr>
          <a:xfrm>
            <a:off x="36099737" y="3926132"/>
            <a:ext cx="0" cy="682920"/>
          </a:xfrm>
          <a:prstGeom prst="line">
            <a:avLst/>
          </a:prstGeom>
          <a:ln>
            <a:solidFill>
              <a:srgbClr val="0C2340"/>
            </a:solidFill>
          </a:ln>
        </p:spPr>
        <p:style>
          <a:lnRef idx="2">
            <a:schemeClr val="accent1"/>
          </a:lnRef>
          <a:fillRef idx="0">
            <a:schemeClr val="accent1"/>
          </a:fillRef>
          <a:effectRef idx="1">
            <a:schemeClr val="accent1"/>
          </a:effectRef>
          <a:fontRef idx="minor">
            <a:schemeClr val="tx1"/>
          </a:fontRef>
        </p:style>
      </p:cxnSp>
      <p:grpSp>
        <p:nvGrpSpPr>
          <p:cNvPr id="194" name="Group 193">
            <a:extLst>
              <a:ext uri="{FF2B5EF4-FFF2-40B4-BE49-F238E27FC236}">
                <a16:creationId xmlns:a16="http://schemas.microsoft.com/office/drawing/2014/main" id="{BECC1B9C-372D-2B8F-E8AC-E5491605C43B}"/>
              </a:ext>
            </a:extLst>
          </p:cNvPr>
          <p:cNvGrpSpPr/>
          <p:nvPr/>
        </p:nvGrpSpPr>
        <p:grpSpPr>
          <a:xfrm>
            <a:off x="10623583" y="9073271"/>
            <a:ext cx="25907100" cy="18335965"/>
            <a:chOff x="10562623" y="9073271"/>
            <a:chExt cx="25907100" cy="18335965"/>
          </a:xfrm>
        </p:grpSpPr>
        <p:grpSp>
          <p:nvGrpSpPr>
            <p:cNvPr id="171" name="Group 170">
              <a:extLst>
                <a:ext uri="{FF2B5EF4-FFF2-40B4-BE49-F238E27FC236}">
                  <a16:creationId xmlns:a16="http://schemas.microsoft.com/office/drawing/2014/main" id="{1314CF4C-EB16-58B6-38C8-FFC9A0031C73}"/>
                </a:ext>
              </a:extLst>
            </p:cNvPr>
            <p:cNvGrpSpPr/>
            <p:nvPr/>
          </p:nvGrpSpPr>
          <p:grpSpPr>
            <a:xfrm>
              <a:off x="10573077" y="17932461"/>
              <a:ext cx="15167203" cy="9470169"/>
              <a:chOff x="10451157" y="17699326"/>
              <a:chExt cx="15167203" cy="9470169"/>
            </a:xfrm>
          </p:grpSpPr>
          <p:grpSp>
            <p:nvGrpSpPr>
              <p:cNvPr id="127" name="Group 126">
                <a:extLst>
                  <a:ext uri="{FF2B5EF4-FFF2-40B4-BE49-F238E27FC236}">
                    <a16:creationId xmlns:a16="http://schemas.microsoft.com/office/drawing/2014/main" id="{9F0A2553-C6F0-0BC6-943B-624AFF272DEB}"/>
                  </a:ext>
                </a:extLst>
              </p:cNvPr>
              <p:cNvGrpSpPr/>
              <p:nvPr/>
            </p:nvGrpSpPr>
            <p:grpSpPr>
              <a:xfrm>
                <a:off x="10472283" y="17699326"/>
                <a:ext cx="15146077" cy="9470169"/>
                <a:chOff x="22475964" y="9191417"/>
                <a:chExt cx="13881273" cy="8679352"/>
              </a:xfrm>
            </p:grpSpPr>
            <p:pic>
              <p:nvPicPr>
                <p:cNvPr id="90" name="Graphic 89">
                  <a:extLst>
                    <a:ext uri="{FF2B5EF4-FFF2-40B4-BE49-F238E27FC236}">
                      <a16:creationId xmlns:a16="http://schemas.microsoft.com/office/drawing/2014/main" id="{2B83338A-907F-4B01-BE57-FD0E354D952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2475964" y="9193939"/>
                  <a:ext cx="7475931" cy="4525050"/>
                </a:xfrm>
                <a:prstGeom prst="rect">
                  <a:avLst/>
                </a:prstGeom>
              </p:spPr>
            </p:pic>
            <p:pic>
              <p:nvPicPr>
                <p:cNvPr id="96" name="Graphic 95">
                  <a:extLst>
                    <a:ext uri="{FF2B5EF4-FFF2-40B4-BE49-F238E27FC236}">
                      <a16:creationId xmlns:a16="http://schemas.microsoft.com/office/drawing/2014/main" id="{24E17163-99D8-DEAB-6C0E-7DCAFAC54B7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0455851" y="9191417"/>
                  <a:ext cx="5847589" cy="4443491"/>
                </a:xfrm>
                <a:prstGeom prst="rect">
                  <a:avLst/>
                </a:prstGeom>
              </p:spPr>
            </p:pic>
            <p:pic>
              <p:nvPicPr>
                <p:cNvPr id="98" name="Graphic 97">
                  <a:extLst>
                    <a:ext uri="{FF2B5EF4-FFF2-40B4-BE49-F238E27FC236}">
                      <a16:creationId xmlns:a16="http://schemas.microsoft.com/office/drawing/2014/main" id="{02FF5AD3-5D25-1108-1E0A-0DA67147C1F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0947037" y="13904966"/>
                  <a:ext cx="5410200" cy="3965803"/>
                </a:xfrm>
                <a:prstGeom prst="rect">
                  <a:avLst/>
                </a:prstGeom>
              </p:spPr>
            </p:pic>
          </p:grpSp>
          <p:pic>
            <p:nvPicPr>
              <p:cNvPr id="155" name="Graphic 154">
                <a:extLst>
                  <a:ext uri="{FF2B5EF4-FFF2-40B4-BE49-F238E27FC236}">
                    <a16:creationId xmlns:a16="http://schemas.microsoft.com/office/drawing/2014/main" id="{5C08AF72-66BB-A1F8-BB6D-BAE02E57449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451157" y="22917895"/>
                <a:ext cx="9477375" cy="3971925"/>
              </a:xfrm>
              <a:prstGeom prst="rect">
                <a:avLst/>
              </a:prstGeom>
            </p:spPr>
          </p:pic>
        </p:grpSp>
        <p:pic>
          <p:nvPicPr>
            <p:cNvPr id="13" name="Graphic 12">
              <a:extLst>
                <a:ext uri="{FF2B5EF4-FFF2-40B4-BE49-F238E27FC236}">
                  <a16:creationId xmlns:a16="http://schemas.microsoft.com/office/drawing/2014/main" id="{DA85137C-1128-9251-65EE-27BE2D5A0F3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71797" y="9073970"/>
              <a:ext cx="5343525" cy="8229600"/>
            </a:xfrm>
            <a:prstGeom prst="rect">
              <a:avLst/>
            </a:prstGeom>
          </p:spPr>
        </p:pic>
        <p:pic>
          <p:nvPicPr>
            <p:cNvPr id="18" name="Graphic 17">
              <a:extLst>
                <a:ext uri="{FF2B5EF4-FFF2-40B4-BE49-F238E27FC236}">
                  <a16:creationId xmlns:a16="http://schemas.microsoft.com/office/drawing/2014/main" id="{A14C65E8-634F-E21A-4A36-859390C642A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965306" y="9076529"/>
              <a:ext cx="9715500" cy="8896350"/>
            </a:xfrm>
            <a:prstGeom prst="rect">
              <a:avLst/>
            </a:prstGeom>
          </p:spPr>
        </p:pic>
        <p:sp>
          <p:nvSpPr>
            <p:cNvPr id="20" name="Rectangle 19">
              <a:extLst>
                <a:ext uri="{FF2B5EF4-FFF2-40B4-BE49-F238E27FC236}">
                  <a16:creationId xmlns:a16="http://schemas.microsoft.com/office/drawing/2014/main" id="{22025ADD-CBD7-0C3D-851C-F59ED940A982}"/>
                </a:ext>
              </a:extLst>
            </p:cNvPr>
            <p:cNvSpPr/>
            <p:nvPr/>
          </p:nvSpPr>
          <p:spPr>
            <a:xfrm>
              <a:off x="10564912" y="9083431"/>
              <a:ext cx="15115893" cy="8743307"/>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FB6EE96A-2717-7F26-C664-7E3E15300176}"/>
                </a:ext>
              </a:extLst>
            </p:cNvPr>
            <p:cNvCxnSpPr>
              <a:cxnSpLocks/>
            </p:cNvCxnSpPr>
            <p:nvPr/>
          </p:nvCxnSpPr>
          <p:spPr>
            <a:xfrm>
              <a:off x="15915322" y="9083431"/>
              <a:ext cx="0" cy="8743307"/>
            </a:xfrm>
            <a:prstGeom prst="line">
              <a:avLst/>
            </a:prstGeom>
            <a:ln>
              <a:solidFill>
                <a:srgbClr val="0B234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8E64587-EE3A-0E1D-D6E5-E0877E818630}"/>
                </a:ext>
              </a:extLst>
            </p:cNvPr>
            <p:cNvCxnSpPr>
              <a:cxnSpLocks/>
            </p:cNvCxnSpPr>
            <p:nvPr/>
          </p:nvCxnSpPr>
          <p:spPr>
            <a:xfrm>
              <a:off x="15930562" y="9073271"/>
              <a:ext cx="0" cy="8743307"/>
            </a:xfrm>
            <a:prstGeom prst="line">
              <a:avLst/>
            </a:prstGeom>
            <a:ln>
              <a:solidFill>
                <a:srgbClr val="0B234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8421E0E-369A-E452-50F5-A398DC2FB6E0}"/>
                </a:ext>
              </a:extLst>
            </p:cNvPr>
            <p:cNvCxnSpPr>
              <a:cxnSpLocks/>
            </p:cNvCxnSpPr>
            <p:nvPr/>
          </p:nvCxnSpPr>
          <p:spPr>
            <a:xfrm>
              <a:off x="15940722" y="9093591"/>
              <a:ext cx="0" cy="8743307"/>
            </a:xfrm>
            <a:prstGeom prst="line">
              <a:avLst/>
            </a:prstGeom>
            <a:ln>
              <a:solidFill>
                <a:srgbClr val="0B234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68787D9-AB1D-B18A-9A15-C49A46ED8E47}"/>
                </a:ext>
              </a:extLst>
            </p:cNvPr>
            <p:cNvCxnSpPr>
              <a:cxnSpLocks/>
            </p:cNvCxnSpPr>
            <p:nvPr/>
          </p:nvCxnSpPr>
          <p:spPr>
            <a:xfrm>
              <a:off x="15957232" y="9074541"/>
              <a:ext cx="0" cy="8743307"/>
            </a:xfrm>
            <a:prstGeom prst="line">
              <a:avLst/>
            </a:prstGeom>
            <a:ln>
              <a:solidFill>
                <a:srgbClr val="0B2341"/>
              </a:solidFill>
            </a:ln>
          </p:spPr>
          <p:style>
            <a:lnRef idx="2">
              <a:schemeClr val="accent1"/>
            </a:lnRef>
            <a:fillRef idx="0">
              <a:schemeClr val="accent1"/>
            </a:fillRef>
            <a:effectRef idx="1">
              <a:schemeClr val="accent1"/>
            </a:effectRef>
            <a:fontRef idx="minor">
              <a:schemeClr val="tx1"/>
            </a:fontRef>
          </p:style>
        </p:cxnSp>
        <p:pic>
          <p:nvPicPr>
            <p:cNvPr id="34" name="Graphic 33">
              <a:extLst>
                <a:ext uri="{FF2B5EF4-FFF2-40B4-BE49-F238E27FC236}">
                  <a16:creationId xmlns:a16="http://schemas.microsoft.com/office/drawing/2014/main" id="{F8482BE7-61BE-75D3-C453-992501EA884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562623" y="18004014"/>
              <a:ext cx="8153400" cy="4933950"/>
            </a:xfrm>
            <a:prstGeom prst="rect">
              <a:avLst/>
            </a:prstGeom>
          </p:spPr>
        </p:pic>
        <p:pic>
          <p:nvPicPr>
            <p:cNvPr id="36" name="Graphic 35">
              <a:extLst>
                <a:ext uri="{FF2B5EF4-FFF2-40B4-BE49-F238E27FC236}">
                  <a16:creationId xmlns:a16="http://schemas.microsoft.com/office/drawing/2014/main" id="{1548AF28-7433-D548-CEAB-31C1BFC73B8F}"/>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9306335" y="17997263"/>
              <a:ext cx="6383190" cy="4848225"/>
            </a:xfrm>
            <a:prstGeom prst="rect">
              <a:avLst/>
            </a:prstGeom>
          </p:spPr>
        </p:pic>
        <p:sp>
          <p:nvSpPr>
            <p:cNvPr id="38" name="Rectangle 37">
              <a:extLst>
                <a:ext uri="{FF2B5EF4-FFF2-40B4-BE49-F238E27FC236}">
                  <a16:creationId xmlns:a16="http://schemas.microsoft.com/office/drawing/2014/main" id="{1B536B71-253C-CBC7-C17B-527430AFD371}"/>
                </a:ext>
              </a:extLst>
            </p:cNvPr>
            <p:cNvSpPr/>
            <p:nvPr/>
          </p:nvSpPr>
          <p:spPr>
            <a:xfrm>
              <a:off x="10564912" y="17984765"/>
              <a:ext cx="15115893" cy="4845483"/>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0CD5E0A-2D5B-50DF-F1D6-703771BC2028}"/>
                </a:ext>
              </a:extLst>
            </p:cNvPr>
            <p:cNvSpPr/>
            <p:nvPr/>
          </p:nvSpPr>
          <p:spPr>
            <a:xfrm>
              <a:off x="10571797" y="17988869"/>
              <a:ext cx="8136708" cy="4845483"/>
            </a:xfrm>
            <a:prstGeom prst="rect">
              <a:avLst/>
            </a:prstGeom>
            <a:noFill/>
            <a:ln>
              <a:solidFill>
                <a:srgbClr val="0B2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2F2FEC4-94B4-CB7B-7831-7714A55F3AAD}"/>
                </a:ext>
              </a:extLst>
            </p:cNvPr>
            <p:cNvSpPr/>
            <p:nvPr/>
          </p:nvSpPr>
          <p:spPr>
            <a:xfrm>
              <a:off x="19297615" y="17989845"/>
              <a:ext cx="6383190" cy="4845483"/>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0824847-1DAD-1A85-8C97-2E8C9CA788E4}"/>
                </a:ext>
              </a:extLst>
            </p:cNvPr>
            <p:cNvSpPr/>
            <p:nvPr/>
          </p:nvSpPr>
          <p:spPr>
            <a:xfrm>
              <a:off x="18708505" y="17993853"/>
              <a:ext cx="588349" cy="484137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81B57A1-2AE5-D627-C0B2-4083982F6D2D}"/>
                </a:ext>
              </a:extLst>
            </p:cNvPr>
            <p:cNvSpPr/>
            <p:nvPr/>
          </p:nvSpPr>
          <p:spPr>
            <a:xfrm>
              <a:off x="10562623" y="17816577"/>
              <a:ext cx="15118183" cy="213575"/>
            </a:xfrm>
            <a:prstGeom prst="rect">
              <a:avLst/>
            </a:prstGeom>
            <a:solidFill>
              <a:srgbClr val="0B2341"/>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C42DF234-FAEA-23CF-59F6-EE41F85D46A2}"/>
                </a:ext>
              </a:extLst>
            </p:cNvPr>
            <p:cNvSpPr/>
            <p:nvPr/>
          </p:nvSpPr>
          <p:spPr>
            <a:xfrm>
              <a:off x="15660528" y="9607793"/>
              <a:ext cx="58834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4729971-FFEE-1C56-4C72-4B5A1CB1820C}"/>
                </a:ext>
              </a:extLst>
            </p:cNvPr>
            <p:cNvSpPr/>
            <p:nvPr/>
          </p:nvSpPr>
          <p:spPr>
            <a:xfrm>
              <a:off x="10571797" y="18142245"/>
              <a:ext cx="15109008" cy="9260384"/>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33F1E84-A8E9-6849-3700-2AC214CE6A4C}"/>
                </a:ext>
              </a:extLst>
            </p:cNvPr>
            <p:cNvSpPr/>
            <p:nvPr/>
          </p:nvSpPr>
          <p:spPr>
            <a:xfrm>
              <a:off x="10571045" y="22841924"/>
              <a:ext cx="15109009" cy="346340"/>
            </a:xfrm>
            <a:prstGeom prst="rect">
              <a:avLst/>
            </a:prstGeom>
            <a:solidFill>
              <a:srgbClr val="0B2341"/>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7" name="Group 66">
              <a:extLst>
                <a:ext uri="{FF2B5EF4-FFF2-40B4-BE49-F238E27FC236}">
                  <a16:creationId xmlns:a16="http://schemas.microsoft.com/office/drawing/2014/main" id="{D36D62A5-A8EA-B9FD-297A-3E400FB28907}"/>
                </a:ext>
              </a:extLst>
            </p:cNvPr>
            <p:cNvGrpSpPr/>
            <p:nvPr/>
          </p:nvGrpSpPr>
          <p:grpSpPr>
            <a:xfrm>
              <a:off x="25681936" y="9083431"/>
              <a:ext cx="71679" cy="18325805"/>
              <a:chOff x="25681936" y="9079327"/>
              <a:chExt cx="71679" cy="18322289"/>
            </a:xfrm>
          </p:grpSpPr>
          <p:sp>
            <p:nvSpPr>
              <p:cNvPr id="60" name="Rectangle 59">
                <a:extLst>
                  <a:ext uri="{FF2B5EF4-FFF2-40B4-BE49-F238E27FC236}">
                    <a16:creationId xmlns:a16="http://schemas.microsoft.com/office/drawing/2014/main" id="{66BFE8D4-F766-CBAF-51C9-395C59EC8A63}"/>
                  </a:ext>
                </a:extLst>
              </p:cNvPr>
              <p:cNvSpPr/>
              <p:nvPr/>
            </p:nvSpPr>
            <p:spPr>
              <a:xfrm>
                <a:off x="25681936" y="907932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BBAB6FF-7640-34BB-AB43-1E4116A25E6E}"/>
                  </a:ext>
                </a:extLst>
              </p:cNvPr>
              <p:cNvSpPr/>
              <p:nvPr/>
            </p:nvSpPr>
            <p:spPr>
              <a:xfrm>
                <a:off x="25681936" y="1721748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5B5CC0B9-1CC2-F9E1-1B8C-56433B1923FB}"/>
                  </a:ext>
                </a:extLst>
              </p:cNvPr>
              <p:cNvSpPr/>
              <p:nvPr/>
            </p:nvSpPr>
            <p:spPr>
              <a:xfrm>
                <a:off x="25681936" y="1917201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E3239AB1-8596-DFC2-54A2-0FF4B073A45D}"/>
                </a:ext>
              </a:extLst>
            </p:cNvPr>
            <p:cNvGrpSpPr/>
            <p:nvPr/>
          </p:nvGrpSpPr>
          <p:grpSpPr>
            <a:xfrm>
              <a:off x="10567062" y="9083899"/>
              <a:ext cx="71679" cy="18322289"/>
              <a:chOff x="25681936" y="9079327"/>
              <a:chExt cx="71679" cy="18322289"/>
            </a:xfrm>
          </p:grpSpPr>
          <p:sp>
            <p:nvSpPr>
              <p:cNvPr id="69" name="Rectangle 68">
                <a:extLst>
                  <a:ext uri="{FF2B5EF4-FFF2-40B4-BE49-F238E27FC236}">
                    <a16:creationId xmlns:a16="http://schemas.microsoft.com/office/drawing/2014/main" id="{EAB22FB7-D948-391F-6600-DECAD2808AA0}"/>
                  </a:ext>
                </a:extLst>
              </p:cNvPr>
              <p:cNvSpPr/>
              <p:nvPr/>
            </p:nvSpPr>
            <p:spPr>
              <a:xfrm>
                <a:off x="25681936" y="907932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50E9815-A6F2-DEDB-FA95-608EC9CB1209}"/>
                  </a:ext>
                </a:extLst>
              </p:cNvPr>
              <p:cNvSpPr/>
              <p:nvPr/>
            </p:nvSpPr>
            <p:spPr>
              <a:xfrm>
                <a:off x="25681936" y="1721748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6A92F23-8CA9-234B-32CC-997320B62B82}"/>
                  </a:ext>
                </a:extLst>
              </p:cNvPr>
              <p:cNvSpPr/>
              <p:nvPr/>
            </p:nvSpPr>
            <p:spPr>
              <a:xfrm>
                <a:off x="25681936" y="19172017"/>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Rectangle 72">
              <a:extLst>
                <a:ext uri="{FF2B5EF4-FFF2-40B4-BE49-F238E27FC236}">
                  <a16:creationId xmlns:a16="http://schemas.microsoft.com/office/drawing/2014/main" id="{7FD5749A-BA99-C336-F2C2-F73BDAFB6756}"/>
                </a:ext>
              </a:extLst>
            </p:cNvPr>
            <p:cNvSpPr/>
            <p:nvPr/>
          </p:nvSpPr>
          <p:spPr>
            <a:xfrm rot="5400000">
              <a:off x="21549017" y="23258242"/>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DDAB0EB-E99A-83FB-637A-DE907BD0B0E6}"/>
                </a:ext>
              </a:extLst>
            </p:cNvPr>
            <p:cNvSpPr/>
            <p:nvPr/>
          </p:nvSpPr>
          <p:spPr>
            <a:xfrm rot="5400000">
              <a:off x="16595721" y="23258242"/>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1555BD2-3279-60C8-9AA6-AF6CEB142984}"/>
                </a:ext>
              </a:extLst>
            </p:cNvPr>
            <p:cNvSpPr/>
            <p:nvPr/>
          </p:nvSpPr>
          <p:spPr>
            <a:xfrm rot="5400000">
              <a:off x="14648811" y="23258242"/>
              <a:ext cx="71679" cy="8229599"/>
            </a:xfrm>
            <a:prstGeom prst="rect">
              <a:avLst/>
            </a:prstGeom>
            <a:solidFill>
              <a:srgbClr val="0C2340"/>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Graphic 77">
              <a:extLst>
                <a:ext uri="{FF2B5EF4-FFF2-40B4-BE49-F238E27FC236}">
                  <a16:creationId xmlns:a16="http://schemas.microsoft.com/office/drawing/2014/main" id="{A12AC98A-B2B4-8379-9AB9-208D47C7C4E3}"/>
                </a:ext>
              </a:extLst>
            </p:cNvPr>
            <p:cNvPicPr>
              <a:picLocks noChangeAspect="1"/>
            </p:cNvPicPr>
            <p:nvPr/>
          </p:nvPicPr>
          <p:blipFill>
            <a:blip>
              <a:extLst>
                <a:ext uri="{96DAC541-7B7A-43D3-8B79-37D633B846F1}">
                  <asvg:svgBlip xmlns:asvg="http://schemas.microsoft.com/office/drawing/2016/SVG/main" r:embed="rId22"/>
                </a:ext>
              </a:extLst>
            </a:blip>
            <a:srcRect b="85054"/>
            <a:stretch>
              <a:fillRect/>
            </a:stretch>
          </p:blipFill>
          <p:spPr>
            <a:xfrm>
              <a:off x="19789005" y="22924764"/>
              <a:ext cx="5905500" cy="646331"/>
            </a:xfrm>
            <a:prstGeom prst="rect">
              <a:avLst/>
            </a:prstGeom>
          </p:spPr>
        </p:pic>
        <p:pic>
          <p:nvPicPr>
            <p:cNvPr id="80" name="Graphic 79">
              <a:extLst>
                <a:ext uri="{FF2B5EF4-FFF2-40B4-BE49-F238E27FC236}">
                  <a16:creationId xmlns:a16="http://schemas.microsoft.com/office/drawing/2014/main" id="{CD77C1EC-02A5-9E1D-C82B-1F845DCE8884}"/>
                </a:ext>
              </a:extLst>
            </p:cNvPr>
            <p:cNvPicPr>
              <a:picLocks noChangeAspect="1"/>
            </p:cNvPicPr>
            <p:nvPr/>
          </p:nvPicPr>
          <p:blipFill>
            <a:blip>
              <a:extLst>
                <a:ext uri="{96DAC541-7B7A-43D3-8B79-37D633B846F1}">
                  <asvg:svgBlip xmlns:asvg="http://schemas.microsoft.com/office/drawing/2016/SVG/main" r:embed="rId23"/>
                </a:ext>
              </a:extLst>
            </a:blip>
            <a:srcRect b="85050"/>
            <a:stretch>
              <a:fillRect/>
            </a:stretch>
          </p:blipFill>
          <p:spPr>
            <a:xfrm>
              <a:off x="10649855" y="22913600"/>
              <a:ext cx="9486900" cy="593805"/>
            </a:xfrm>
            <a:prstGeom prst="rect">
              <a:avLst/>
            </a:prstGeom>
          </p:spPr>
        </p:pic>
        <p:sp>
          <p:nvSpPr>
            <p:cNvPr id="159" name="TextBox 158">
              <a:extLst>
                <a:ext uri="{FF2B5EF4-FFF2-40B4-BE49-F238E27FC236}">
                  <a16:creationId xmlns:a16="http://schemas.microsoft.com/office/drawing/2014/main" id="{7C8BEE54-9EA7-F640-E956-9520963282EF}"/>
                </a:ext>
              </a:extLst>
            </p:cNvPr>
            <p:cNvSpPr txBox="1"/>
            <p:nvPr/>
          </p:nvSpPr>
          <p:spPr>
            <a:xfrm>
              <a:off x="26321272" y="16414362"/>
              <a:ext cx="10148451" cy="3539430"/>
            </a:xfrm>
            <a:prstGeom prst="rect">
              <a:avLst/>
            </a:prstGeom>
            <a:noFill/>
          </p:spPr>
          <p:txBody>
            <a:bodyPr wrap="square" rtlCol="0">
              <a:spAutoFit/>
            </a:bodyPr>
            <a:lstStyle/>
            <a:p>
              <a:endParaRPr lang="en-US" sz="2800" dirty="0"/>
            </a:p>
            <a:p>
              <a:r>
                <a:rPr lang="en-US" sz="2800" dirty="0"/>
                <a:t>This work was validated using a single drone in a controlled indoor environment, with swarm performance inferred through extrapolation. Target detection was simulated rather than performed onboard. Future work will integrate onboard computation, real-time target detection, adaptive replanning, and experimental validation of multi-drone coordination in outdoor maritime environments.</a:t>
              </a:r>
            </a:p>
          </p:txBody>
        </p:sp>
        <p:pic>
          <p:nvPicPr>
            <p:cNvPr id="167" name="Graphic 166">
              <a:extLst>
                <a:ext uri="{FF2B5EF4-FFF2-40B4-BE49-F238E27FC236}">
                  <a16:creationId xmlns:a16="http://schemas.microsoft.com/office/drawing/2014/main" id="{A467EAC6-95DE-265C-872F-69837E284CF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9278668" y="17990822"/>
              <a:ext cx="6381750" cy="4848225"/>
            </a:xfrm>
            <a:prstGeom prst="rect">
              <a:avLst/>
            </a:prstGeom>
          </p:spPr>
        </p:pic>
      </p:grpSp>
      <p:grpSp>
        <p:nvGrpSpPr>
          <p:cNvPr id="193" name="Group 192">
            <a:extLst>
              <a:ext uri="{FF2B5EF4-FFF2-40B4-BE49-F238E27FC236}">
                <a16:creationId xmlns:a16="http://schemas.microsoft.com/office/drawing/2014/main" id="{7EB89725-6EE2-0294-A001-CB9D76A6989B}"/>
              </a:ext>
            </a:extLst>
          </p:cNvPr>
          <p:cNvGrpSpPr/>
          <p:nvPr/>
        </p:nvGrpSpPr>
        <p:grpSpPr>
          <a:xfrm>
            <a:off x="26341381" y="10843170"/>
            <a:ext cx="9765157" cy="5113774"/>
            <a:chOff x="26341381" y="10782210"/>
            <a:chExt cx="9765157" cy="5113774"/>
          </a:xfrm>
        </p:grpSpPr>
        <p:pic>
          <p:nvPicPr>
            <p:cNvPr id="179" name="Graphic 178">
              <a:extLst>
                <a:ext uri="{FF2B5EF4-FFF2-40B4-BE49-F238E27FC236}">
                  <a16:creationId xmlns:a16="http://schemas.microsoft.com/office/drawing/2014/main" id="{64F1AF6F-449A-72D2-0201-618390F5B90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0656292" y="10786378"/>
              <a:ext cx="5450246" cy="5109606"/>
            </a:xfrm>
            <a:prstGeom prst="rect">
              <a:avLst/>
            </a:prstGeom>
          </p:spPr>
        </p:pic>
        <p:sp>
          <p:nvSpPr>
            <p:cNvPr id="183" name="Rectangle 182">
              <a:extLst>
                <a:ext uri="{FF2B5EF4-FFF2-40B4-BE49-F238E27FC236}">
                  <a16:creationId xmlns:a16="http://schemas.microsoft.com/office/drawing/2014/main" id="{2A89FF23-6D35-7C2F-4B0E-7BCCED836641}"/>
                </a:ext>
              </a:extLst>
            </p:cNvPr>
            <p:cNvSpPr/>
            <p:nvPr/>
          </p:nvSpPr>
          <p:spPr>
            <a:xfrm>
              <a:off x="26341381" y="10784293"/>
              <a:ext cx="9765157" cy="5109606"/>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TextBox 187">
              <a:extLst>
                <a:ext uri="{FF2B5EF4-FFF2-40B4-BE49-F238E27FC236}">
                  <a16:creationId xmlns:a16="http://schemas.microsoft.com/office/drawing/2014/main" id="{3C177E0A-565F-0845-D2A8-4E123936DA13}"/>
                </a:ext>
              </a:extLst>
            </p:cNvPr>
            <p:cNvSpPr txBox="1"/>
            <p:nvPr/>
          </p:nvSpPr>
          <p:spPr>
            <a:xfrm>
              <a:off x="26434981" y="11631878"/>
              <a:ext cx="4242101" cy="461665"/>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p:txBody>
        </p:sp>
        <p:sp>
          <p:nvSpPr>
            <p:cNvPr id="189" name="Rectangle 188">
              <a:extLst>
                <a:ext uri="{FF2B5EF4-FFF2-40B4-BE49-F238E27FC236}">
                  <a16:creationId xmlns:a16="http://schemas.microsoft.com/office/drawing/2014/main" id="{5F57F6B0-6C63-3941-084A-51D99810CF04}"/>
                </a:ext>
              </a:extLst>
            </p:cNvPr>
            <p:cNvSpPr/>
            <p:nvPr/>
          </p:nvSpPr>
          <p:spPr>
            <a:xfrm>
              <a:off x="26356297" y="10782210"/>
              <a:ext cx="4346295" cy="503764"/>
            </a:xfrm>
            <a:prstGeom prst="rect">
              <a:avLst/>
            </a:prstGeom>
            <a:solidFill>
              <a:srgbClr val="0B2341"/>
            </a:solid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1" name="Straight Connector 190">
              <a:extLst>
                <a:ext uri="{FF2B5EF4-FFF2-40B4-BE49-F238E27FC236}">
                  <a16:creationId xmlns:a16="http://schemas.microsoft.com/office/drawing/2014/main" id="{84C1A12E-914A-9FAE-65C8-930EBA957C8F}"/>
                </a:ext>
              </a:extLst>
            </p:cNvPr>
            <p:cNvCxnSpPr>
              <a:cxnSpLocks/>
            </p:cNvCxnSpPr>
            <p:nvPr/>
          </p:nvCxnSpPr>
          <p:spPr>
            <a:xfrm>
              <a:off x="31268838" y="11285974"/>
              <a:ext cx="0" cy="4607925"/>
            </a:xfrm>
            <a:prstGeom prst="line">
              <a:avLst/>
            </a:prstGeom>
            <a:ln>
              <a:solidFill>
                <a:srgbClr val="0C2340"/>
              </a:solidFill>
            </a:ln>
          </p:spPr>
          <p:style>
            <a:lnRef idx="2">
              <a:schemeClr val="accent1"/>
            </a:lnRef>
            <a:fillRef idx="0">
              <a:schemeClr val="accent1"/>
            </a:fillRef>
            <a:effectRef idx="1">
              <a:schemeClr val="accent1"/>
            </a:effectRef>
            <a:fontRef idx="minor">
              <a:schemeClr val="tx1"/>
            </a:fontRef>
          </p:style>
        </p:cxnSp>
      </p:grpSp>
      <p:grpSp>
        <p:nvGrpSpPr>
          <p:cNvPr id="215" name="Group 214">
            <a:extLst>
              <a:ext uri="{FF2B5EF4-FFF2-40B4-BE49-F238E27FC236}">
                <a16:creationId xmlns:a16="http://schemas.microsoft.com/office/drawing/2014/main" id="{E2CB0618-985F-C299-9A9D-9823BCAA15B7}"/>
              </a:ext>
            </a:extLst>
          </p:cNvPr>
          <p:cNvGrpSpPr/>
          <p:nvPr/>
        </p:nvGrpSpPr>
        <p:grpSpPr>
          <a:xfrm>
            <a:off x="26390506" y="20141590"/>
            <a:ext cx="9691029" cy="4928210"/>
            <a:chOff x="26286366" y="22503790"/>
            <a:chExt cx="9691029" cy="4928210"/>
          </a:xfrm>
        </p:grpSpPr>
        <p:pic>
          <p:nvPicPr>
            <p:cNvPr id="209" name="Graphic 208">
              <a:extLst>
                <a:ext uri="{FF2B5EF4-FFF2-40B4-BE49-F238E27FC236}">
                  <a16:creationId xmlns:a16="http://schemas.microsoft.com/office/drawing/2014/main" id="{D436A96B-A28B-F990-23EF-AF790D502DA3}"/>
                </a:ext>
              </a:extLst>
            </p:cNvPr>
            <p:cNvPicPr>
              <a:picLocks noChangeAspect="1"/>
            </p:cNvPicPr>
            <p:nvPr/>
          </p:nvPicPr>
          <p:blipFill>
            <a:blip>
              <a:extLst>
                <a:ext uri="{96DAC541-7B7A-43D3-8B79-37D633B846F1}">
                  <asvg:svgBlip xmlns:asvg="http://schemas.microsoft.com/office/drawing/2016/SVG/main" r:embed="rId26"/>
                </a:ext>
              </a:extLst>
            </a:blip>
            <a:srcRect b="3650"/>
            <a:stretch>
              <a:fillRect/>
            </a:stretch>
          </p:blipFill>
          <p:spPr>
            <a:xfrm>
              <a:off x="26286366" y="22503790"/>
              <a:ext cx="4848225" cy="4873165"/>
            </a:xfrm>
            <a:prstGeom prst="rect">
              <a:avLst/>
            </a:prstGeom>
          </p:spPr>
        </p:pic>
        <p:pic>
          <p:nvPicPr>
            <p:cNvPr id="211" name="Graphic 210">
              <a:extLst>
                <a:ext uri="{FF2B5EF4-FFF2-40B4-BE49-F238E27FC236}">
                  <a16:creationId xmlns:a16="http://schemas.microsoft.com/office/drawing/2014/main" id="{84C3434F-4CA8-933C-527A-88D4E74051FD}"/>
                </a:ext>
              </a:extLst>
            </p:cNvPr>
            <p:cNvPicPr>
              <a:picLocks noChangeAspect="1"/>
            </p:cNvPicPr>
            <p:nvPr/>
          </p:nvPicPr>
          <p:blipFill>
            <a:blip>
              <a:extLst>
                <a:ext uri="{96DAC541-7B7A-43D3-8B79-37D633B846F1}">
                  <asvg:svgBlip xmlns:asvg="http://schemas.microsoft.com/office/drawing/2016/SVG/main" r:embed="rId26"/>
                </a:ext>
              </a:extLst>
            </a:blip>
            <a:srcRect b="3650"/>
            <a:stretch>
              <a:fillRect/>
            </a:stretch>
          </p:blipFill>
          <p:spPr>
            <a:xfrm>
              <a:off x="31129170" y="22503790"/>
              <a:ext cx="4848225" cy="4873165"/>
            </a:xfrm>
            <a:prstGeom prst="rect">
              <a:avLst/>
            </a:prstGeom>
          </p:spPr>
        </p:pic>
        <p:pic>
          <p:nvPicPr>
            <p:cNvPr id="213" name="Graphic 212">
              <a:extLst>
                <a:ext uri="{FF2B5EF4-FFF2-40B4-BE49-F238E27FC236}">
                  <a16:creationId xmlns:a16="http://schemas.microsoft.com/office/drawing/2014/main" id="{DB42EDA0-AA34-B8CC-DE09-0951D1E3D4C6}"/>
                </a:ext>
              </a:extLst>
            </p:cNvPr>
            <p:cNvPicPr>
              <a:picLocks noChangeAspect="1"/>
            </p:cNvPicPr>
            <p:nvPr/>
          </p:nvPicPr>
          <p:blipFill>
            <a:blip>
              <a:extLst>
                <a:ext uri="{96DAC541-7B7A-43D3-8B79-37D633B846F1}">
                  <asvg:svgBlip xmlns:asvg="http://schemas.microsoft.com/office/drawing/2016/SVG/main" r:embed="rId27"/>
                </a:ext>
              </a:extLst>
            </a:blip>
            <a:srcRect b="4644"/>
            <a:stretch>
              <a:fillRect/>
            </a:stretch>
          </p:blipFill>
          <p:spPr>
            <a:xfrm>
              <a:off x="31015617" y="22503790"/>
              <a:ext cx="4848225" cy="4822857"/>
            </a:xfrm>
            <a:prstGeom prst="rect">
              <a:avLst/>
            </a:prstGeom>
          </p:spPr>
        </p:pic>
        <p:sp>
          <p:nvSpPr>
            <p:cNvPr id="214" name="Rectangle 213">
              <a:extLst>
                <a:ext uri="{FF2B5EF4-FFF2-40B4-BE49-F238E27FC236}">
                  <a16:creationId xmlns:a16="http://schemas.microsoft.com/office/drawing/2014/main" id="{4BD709E0-DAE4-3AEA-4D17-621F102DA4E3}"/>
                </a:ext>
              </a:extLst>
            </p:cNvPr>
            <p:cNvSpPr/>
            <p:nvPr/>
          </p:nvSpPr>
          <p:spPr>
            <a:xfrm>
              <a:off x="26286366" y="22503790"/>
              <a:ext cx="9683773" cy="4928210"/>
            </a:xfrm>
            <a:prstGeom prst="rect">
              <a:avLst/>
            </a:prstGeom>
            <a:noFill/>
            <a:ln>
              <a:solidFill>
                <a:srgbClr val="0B2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313CAD45-8A46-DB83-C8D7-B923D6D911DC}"/>
              </a:ext>
            </a:extLst>
          </p:cNvPr>
          <p:cNvGrpSpPr/>
          <p:nvPr/>
        </p:nvGrpSpPr>
        <p:grpSpPr>
          <a:xfrm>
            <a:off x="26357948" y="16146151"/>
            <a:ext cx="9775834" cy="3807641"/>
            <a:chOff x="26357948" y="16146151"/>
            <a:chExt cx="9775834" cy="3807641"/>
          </a:xfrm>
        </p:grpSpPr>
        <p:pic>
          <p:nvPicPr>
            <p:cNvPr id="225" name="Graphic 224">
              <a:extLst>
                <a:ext uri="{FF2B5EF4-FFF2-40B4-BE49-F238E27FC236}">
                  <a16:creationId xmlns:a16="http://schemas.microsoft.com/office/drawing/2014/main" id="{1B71D380-9F25-56B3-F474-3E2548372069}"/>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6357948" y="16146151"/>
              <a:ext cx="9763125" cy="676275"/>
            </a:xfrm>
            <a:prstGeom prst="rect">
              <a:avLst/>
            </a:prstGeom>
          </p:spPr>
        </p:pic>
        <p:sp>
          <p:nvSpPr>
            <p:cNvPr id="226" name="Rectangle 225">
              <a:extLst>
                <a:ext uri="{FF2B5EF4-FFF2-40B4-BE49-F238E27FC236}">
                  <a16:creationId xmlns:a16="http://schemas.microsoft.com/office/drawing/2014/main" id="{3889CD2B-0B1A-2EB4-5340-40EB0A10C60C}"/>
                </a:ext>
              </a:extLst>
            </p:cNvPr>
            <p:cNvSpPr/>
            <p:nvPr/>
          </p:nvSpPr>
          <p:spPr>
            <a:xfrm>
              <a:off x="26370657" y="16146151"/>
              <a:ext cx="9763125" cy="3807641"/>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7E120E94-6555-5170-FFB4-2BB892A9441C}"/>
              </a:ext>
            </a:extLst>
          </p:cNvPr>
          <p:cNvGrpSpPr/>
          <p:nvPr/>
        </p:nvGrpSpPr>
        <p:grpSpPr>
          <a:xfrm>
            <a:off x="10267657" y="3947235"/>
            <a:ext cx="243840" cy="23404712"/>
            <a:chOff x="10267657" y="4145355"/>
            <a:chExt cx="243840" cy="23153446"/>
          </a:xfrm>
        </p:grpSpPr>
        <p:cxnSp>
          <p:nvCxnSpPr>
            <p:cNvPr id="223" name="Straight Connector 222">
              <a:extLst>
                <a:ext uri="{FF2B5EF4-FFF2-40B4-BE49-F238E27FC236}">
                  <a16:creationId xmlns:a16="http://schemas.microsoft.com/office/drawing/2014/main" id="{E2DA7DD6-B4D9-A049-035E-5046988D1AA9}"/>
                </a:ext>
              </a:extLst>
            </p:cNvPr>
            <p:cNvCxnSpPr>
              <a:cxnSpLocks/>
            </p:cNvCxnSpPr>
            <p:nvPr/>
          </p:nvCxnSpPr>
          <p:spPr>
            <a:xfrm>
              <a:off x="10389577" y="414916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cxnSp>
          <p:nvCxnSpPr>
            <p:cNvPr id="228" name="Straight Connector 227">
              <a:extLst>
                <a:ext uri="{FF2B5EF4-FFF2-40B4-BE49-F238E27FC236}">
                  <a16:creationId xmlns:a16="http://schemas.microsoft.com/office/drawing/2014/main" id="{8BB027D5-02E6-2CB1-783C-EC6AB085A032}"/>
                </a:ext>
              </a:extLst>
            </p:cNvPr>
            <p:cNvCxnSpPr>
              <a:cxnSpLocks/>
            </p:cNvCxnSpPr>
            <p:nvPr/>
          </p:nvCxnSpPr>
          <p:spPr>
            <a:xfrm>
              <a:off x="10511497" y="414535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cxnSp>
          <p:nvCxnSpPr>
            <p:cNvPr id="229" name="Straight Connector 228">
              <a:extLst>
                <a:ext uri="{FF2B5EF4-FFF2-40B4-BE49-F238E27FC236}">
                  <a16:creationId xmlns:a16="http://schemas.microsoft.com/office/drawing/2014/main" id="{16940E85-C742-8997-C9CC-7B88955BCFB8}"/>
                </a:ext>
              </a:extLst>
            </p:cNvPr>
            <p:cNvCxnSpPr>
              <a:cxnSpLocks/>
            </p:cNvCxnSpPr>
            <p:nvPr/>
          </p:nvCxnSpPr>
          <p:spPr>
            <a:xfrm>
              <a:off x="10267657" y="414535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grpSp>
      <p:grpSp>
        <p:nvGrpSpPr>
          <p:cNvPr id="231" name="Group 230">
            <a:extLst>
              <a:ext uri="{FF2B5EF4-FFF2-40B4-BE49-F238E27FC236}">
                <a16:creationId xmlns:a16="http://schemas.microsoft.com/office/drawing/2014/main" id="{D1C74CF9-4BD8-DB42-DE54-BAD1AB2B8677}"/>
              </a:ext>
            </a:extLst>
          </p:cNvPr>
          <p:cNvGrpSpPr/>
          <p:nvPr/>
        </p:nvGrpSpPr>
        <p:grpSpPr>
          <a:xfrm>
            <a:off x="25948071" y="3947234"/>
            <a:ext cx="243840" cy="23408565"/>
            <a:chOff x="10267657" y="4145355"/>
            <a:chExt cx="243840" cy="23153446"/>
          </a:xfrm>
        </p:grpSpPr>
        <p:cxnSp>
          <p:nvCxnSpPr>
            <p:cNvPr id="232" name="Straight Connector 231">
              <a:extLst>
                <a:ext uri="{FF2B5EF4-FFF2-40B4-BE49-F238E27FC236}">
                  <a16:creationId xmlns:a16="http://schemas.microsoft.com/office/drawing/2014/main" id="{1E0C3844-4097-E2B9-7D00-E4413CF463DD}"/>
                </a:ext>
              </a:extLst>
            </p:cNvPr>
            <p:cNvCxnSpPr>
              <a:cxnSpLocks/>
            </p:cNvCxnSpPr>
            <p:nvPr/>
          </p:nvCxnSpPr>
          <p:spPr>
            <a:xfrm>
              <a:off x="10389577" y="414916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cxnSp>
          <p:nvCxnSpPr>
            <p:cNvPr id="233" name="Straight Connector 232">
              <a:extLst>
                <a:ext uri="{FF2B5EF4-FFF2-40B4-BE49-F238E27FC236}">
                  <a16:creationId xmlns:a16="http://schemas.microsoft.com/office/drawing/2014/main" id="{99AC1CB1-6B99-DC66-EAD6-CE5B2B3BBA84}"/>
                </a:ext>
              </a:extLst>
            </p:cNvPr>
            <p:cNvCxnSpPr>
              <a:cxnSpLocks/>
            </p:cNvCxnSpPr>
            <p:nvPr/>
          </p:nvCxnSpPr>
          <p:spPr>
            <a:xfrm>
              <a:off x="10511497" y="414535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cxnSp>
          <p:nvCxnSpPr>
            <p:cNvPr id="234" name="Straight Connector 233">
              <a:extLst>
                <a:ext uri="{FF2B5EF4-FFF2-40B4-BE49-F238E27FC236}">
                  <a16:creationId xmlns:a16="http://schemas.microsoft.com/office/drawing/2014/main" id="{38C36FC8-E111-E2B1-4556-B913D3DF4C23}"/>
                </a:ext>
              </a:extLst>
            </p:cNvPr>
            <p:cNvCxnSpPr>
              <a:cxnSpLocks/>
            </p:cNvCxnSpPr>
            <p:nvPr/>
          </p:nvCxnSpPr>
          <p:spPr>
            <a:xfrm>
              <a:off x="10267657" y="4145355"/>
              <a:ext cx="0" cy="23149636"/>
            </a:xfrm>
            <a:prstGeom prst="line">
              <a:avLst/>
            </a:prstGeom>
            <a:ln>
              <a:solidFill>
                <a:srgbClr val="E86100"/>
              </a:solidFill>
            </a:ln>
          </p:spPr>
          <p:style>
            <a:lnRef idx="1">
              <a:schemeClr val="accent6"/>
            </a:lnRef>
            <a:fillRef idx="0">
              <a:schemeClr val="accent6"/>
            </a:fillRef>
            <a:effectRef idx="0">
              <a:schemeClr val="accent6"/>
            </a:effectRef>
            <a:fontRef idx="minor">
              <a:schemeClr val="tx1"/>
            </a:fontRef>
          </p:style>
        </p:cxnSp>
      </p:grpSp>
      <p:sp>
        <p:nvSpPr>
          <p:cNvPr id="237" name="TextBox 236">
            <a:extLst>
              <a:ext uri="{FF2B5EF4-FFF2-40B4-BE49-F238E27FC236}">
                <a16:creationId xmlns:a16="http://schemas.microsoft.com/office/drawing/2014/main" id="{C942AF0E-1744-F17D-448C-20C58BDCA918}"/>
              </a:ext>
            </a:extLst>
          </p:cNvPr>
          <p:cNvSpPr txBox="1"/>
          <p:nvPr/>
        </p:nvSpPr>
        <p:spPr>
          <a:xfrm>
            <a:off x="26370657" y="25057608"/>
            <a:ext cx="9763125" cy="2369880"/>
          </a:xfrm>
          <a:prstGeom prst="rect">
            <a:avLst/>
          </a:prstGeom>
          <a:noFill/>
        </p:spPr>
        <p:txBody>
          <a:bodyPr wrap="square" rtlCol="0">
            <a:spAutoFit/>
          </a:bodyPr>
          <a:lstStyle/>
          <a:p>
            <a:r>
              <a:rPr lang="en-US" b="1" dirty="0"/>
              <a:t>References</a:t>
            </a:r>
          </a:p>
          <a:p>
            <a:r>
              <a:rPr lang="en-US" dirty="0"/>
              <a:t> &gt;</a:t>
            </a:r>
            <a:r>
              <a:rPr lang="en-US" sz="1400" dirty="0"/>
              <a:t>U.S. Coast Guard, U.S. Coast Guard Addendum to the United States National Search and Rescue Supplement (NSS) to the International Aeronautical and Maritime Search and Rescue Manual (IAMSAR), COMDTINST M16130.2F. [Online].     Available: </a:t>
            </a:r>
            <a:r>
              <a:rPr lang="en-US" sz="1400" dirty="0">
                <a:hlinkClick r:id="rId29"/>
              </a:rPr>
              <a:t>https://www.dco.uscg.mil/Portals/9/CG-5R/manuals/COMDTINST%20M16130.2F.pdf</a:t>
            </a:r>
            <a:endParaRPr lang="en-US" sz="1400" dirty="0"/>
          </a:p>
          <a:p>
            <a:r>
              <a:rPr lang="en-US" sz="1400" dirty="0"/>
              <a:t>&gt;L. D. Stone, Theory of Optimal Search. Academic Press, 1975; 2nd ed., INFORMS, 2007.</a:t>
            </a:r>
          </a:p>
          <a:p>
            <a:r>
              <a:rPr lang="en-US" sz="1400" dirty="0"/>
              <a:t>&gt;Z. Burciu, T. Abramowicz-</a:t>
            </a:r>
            <a:r>
              <a:rPr lang="en-US" sz="1400" dirty="0" err="1"/>
              <a:t>Gerigk</a:t>
            </a:r>
            <a:r>
              <a:rPr lang="en-US" sz="1400" dirty="0"/>
              <a:t>, W. Przybyl, I. </a:t>
            </a:r>
            <a:r>
              <a:rPr lang="en-US" sz="1400" dirty="0" err="1"/>
              <a:t>Plebankiewicz</a:t>
            </a:r>
            <a:r>
              <a:rPr lang="en-US" sz="1400" dirty="0"/>
              <a:t>, and     A. </a:t>
            </a:r>
            <a:r>
              <a:rPr lang="en-US" sz="1400" dirty="0" err="1"/>
              <a:t>Januszko</a:t>
            </a:r>
            <a:r>
              <a:rPr lang="en-US" sz="1400" dirty="0"/>
              <a:t>, "The impact of the improved search object detection on the SAR     action success probability in maritime transport," Sensors, vol. 20, no. 14, p. 3962, 2020, </a:t>
            </a:r>
            <a:r>
              <a:rPr lang="en-US" sz="1400" dirty="0" err="1"/>
              <a:t>doi</a:t>
            </a:r>
            <a:r>
              <a:rPr lang="en-US" sz="1400" dirty="0"/>
              <a:t>: 10.3390/s20143962</a:t>
            </a:r>
          </a:p>
          <a:p>
            <a:r>
              <a:rPr lang="en-US" sz="1400" dirty="0"/>
              <a:t>&gt;J. Schulman, F. Wolski, P. Dhariwal, A. Radford, and O. Klimov, "Proximal policy optimization algorithms," arXiv:1707.06347, 2017</a:t>
            </a:r>
          </a:p>
        </p:txBody>
      </p:sp>
      <p:sp>
        <p:nvSpPr>
          <p:cNvPr id="238" name="Rectangle 237">
            <a:extLst>
              <a:ext uri="{FF2B5EF4-FFF2-40B4-BE49-F238E27FC236}">
                <a16:creationId xmlns:a16="http://schemas.microsoft.com/office/drawing/2014/main" id="{BA50FFBB-AB5F-B3F1-2713-7469B044AE67}"/>
              </a:ext>
            </a:extLst>
          </p:cNvPr>
          <p:cNvSpPr/>
          <p:nvPr/>
        </p:nvSpPr>
        <p:spPr>
          <a:xfrm>
            <a:off x="26390506" y="25152245"/>
            <a:ext cx="9683773" cy="2250384"/>
          </a:xfrm>
          <a:prstGeom prst="rect">
            <a:avLst/>
          </a:prstGeom>
          <a:noFill/>
          <a:ln>
            <a:solidFill>
              <a:srgbClr val="0C23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0" name="Graphic 239">
            <a:extLst>
              <a:ext uri="{FF2B5EF4-FFF2-40B4-BE49-F238E27FC236}">
                <a16:creationId xmlns:a16="http://schemas.microsoft.com/office/drawing/2014/main" id="{FF5FA3DB-C110-9300-5F27-48850CE9F65E}"/>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6348890" y="10843168"/>
            <a:ext cx="9763125" cy="676275"/>
          </a:xfrm>
          <a:prstGeom prst="rect">
            <a:avLst/>
          </a:prstGeom>
        </p:spPr>
      </p:pic>
      <p:pic>
        <p:nvPicPr>
          <p:cNvPr id="244" name="Graphic 243">
            <a:extLst>
              <a:ext uri="{FF2B5EF4-FFF2-40B4-BE49-F238E27FC236}">
                <a16:creationId xmlns:a16="http://schemas.microsoft.com/office/drawing/2014/main" id="{A5D109A1-08CC-2A14-EA46-EDD269A2943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rot="190198">
            <a:off x="11811519" y="4299592"/>
            <a:ext cx="4183920" cy="3234905"/>
          </a:xfrm>
          <a:prstGeom prst="rect">
            <a:avLst/>
          </a:prstGeom>
        </p:spPr>
      </p:pic>
      <p:sp>
        <p:nvSpPr>
          <p:cNvPr id="245" name="TextBox 244">
            <a:extLst>
              <a:ext uri="{FF2B5EF4-FFF2-40B4-BE49-F238E27FC236}">
                <a16:creationId xmlns:a16="http://schemas.microsoft.com/office/drawing/2014/main" id="{2F3A002B-59C0-78F3-1853-904D6CD615F0}"/>
              </a:ext>
            </a:extLst>
          </p:cNvPr>
          <p:cNvSpPr txBox="1"/>
          <p:nvPr/>
        </p:nvSpPr>
        <p:spPr>
          <a:xfrm>
            <a:off x="11063082" y="7924089"/>
            <a:ext cx="5499003" cy="400110"/>
          </a:xfrm>
          <a:prstGeom prst="rect">
            <a:avLst/>
          </a:prstGeom>
          <a:noFill/>
        </p:spPr>
        <p:txBody>
          <a:bodyPr wrap="square" rtlCol="0">
            <a:spAutoFit/>
          </a:bodyPr>
          <a:lstStyle/>
          <a:p>
            <a:r>
              <a:rPr lang="en-US" sz="2000" b="1" dirty="0"/>
              <a:t>Auburn Logo Traced by an Autonomous Drone</a:t>
            </a:r>
          </a:p>
        </p:txBody>
      </p:sp>
      <p:sp>
        <p:nvSpPr>
          <p:cNvPr id="249" name="Rectangle 248">
            <a:extLst>
              <a:ext uri="{FF2B5EF4-FFF2-40B4-BE49-F238E27FC236}">
                <a16:creationId xmlns:a16="http://schemas.microsoft.com/office/drawing/2014/main" id="{05930A3D-F456-9463-7440-9F8F221AD19C}"/>
              </a:ext>
            </a:extLst>
          </p:cNvPr>
          <p:cNvSpPr/>
          <p:nvPr/>
        </p:nvSpPr>
        <p:spPr>
          <a:xfrm>
            <a:off x="10623583" y="3935243"/>
            <a:ext cx="6277429" cy="4933942"/>
          </a:xfrm>
          <a:prstGeom prst="rect">
            <a:avLst/>
          </a:prstGeom>
          <a:noFill/>
          <a:ln>
            <a:solidFill>
              <a:srgbClr val="0B2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0" name="Picture 249" descr="A logo of a university&#10;&#10;AI-generated content may be incorrect.">
            <a:extLst>
              <a:ext uri="{FF2B5EF4-FFF2-40B4-BE49-F238E27FC236}">
                <a16:creationId xmlns:a16="http://schemas.microsoft.com/office/drawing/2014/main" id="{C024168D-9C1D-61E2-8F5A-DEB69D8E48C5}"/>
              </a:ext>
            </a:extLst>
          </p:cNvPr>
          <p:cNvPicPr>
            <a:picLocks/>
          </p:cNvPicPr>
          <p:nvPr/>
        </p:nvPicPr>
        <p:blipFill>
          <a:blip r:embed="rId32"/>
          <a:stretch>
            <a:fillRect/>
          </a:stretch>
        </p:blipFill>
        <p:spPr>
          <a:xfrm>
            <a:off x="31867542" y="205731"/>
            <a:ext cx="4238996" cy="3363400"/>
          </a:xfrm>
          <a:prstGeom prst="rect">
            <a:avLst/>
          </a:prstGeom>
        </p:spPr>
      </p:pic>
      <p:pic>
        <p:nvPicPr>
          <p:cNvPr id="252" name="Graphic 251">
            <a:extLst>
              <a:ext uri="{FF2B5EF4-FFF2-40B4-BE49-F238E27FC236}">
                <a16:creationId xmlns:a16="http://schemas.microsoft.com/office/drawing/2014/main" id="{0334478C-D843-429C-0673-DECE5F2D6960}"/>
              </a:ext>
            </a:extLst>
          </p:cNvPr>
          <p:cNvPicPr>
            <a:picLocks noChangeAspect="1"/>
          </p:cNvPicPr>
          <p:nvPr/>
        </p:nvPicPr>
        <p:blipFill>
          <a:blip>
            <a:extLst>
              <a:ext uri="{96DAC541-7B7A-43D3-8B79-37D633B846F1}">
                <asvg:svgBlip xmlns:asvg="http://schemas.microsoft.com/office/drawing/2016/SVG/main" r:embed="rId33"/>
              </a:ext>
            </a:extLst>
          </a:blip>
          <a:srcRect l="1933" t="363" r="-1933" b="5222"/>
          <a:stretch>
            <a:fillRect/>
          </a:stretch>
        </p:blipFill>
        <p:spPr>
          <a:xfrm>
            <a:off x="26560618" y="11519442"/>
            <a:ext cx="4572141" cy="4393116"/>
          </a:xfrm>
          <a:prstGeom prst="rect">
            <a:avLst/>
          </a:prstGeom>
        </p:spPr>
      </p:pic>
    </p:spTree>
    <p:extLst>
      <p:ext uri="{BB962C8B-B14F-4D97-AF65-F5344CB8AC3E}">
        <p14:creationId xmlns:p14="http://schemas.microsoft.com/office/powerpoint/2010/main" val="42872770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10625</TotalTime>
  <Words>640</Words>
  <Application>Microsoft Office PowerPoint</Application>
  <PresentationFormat>Custom</PresentationFormat>
  <Paragraphs>30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Avenir Next LT Pro</vt:lpstr>
      <vt:lpstr>Avenir Next LT Pro Demi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Jennie Hill</dc:creator>
  <cp:keywords/>
  <dc:description/>
  <cp:lastModifiedBy>Green, Logan A.</cp:lastModifiedBy>
  <cp:revision>25</cp:revision>
  <cp:lastPrinted>2026-07-20T17:53:48Z</cp:lastPrinted>
  <dcterms:created xsi:type="dcterms:W3CDTF">2025-09-17T19:26:34Z</dcterms:created>
  <dcterms:modified xsi:type="dcterms:W3CDTF">2026-07-21T03:11:53Z</dcterms:modified>
  <cp:category/>
</cp:coreProperties>
</file>